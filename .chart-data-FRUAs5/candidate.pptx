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c97825dccca4bf7" /><Relationship Type="http://schemas.openxmlformats.org/officeDocument/2006/relationships/extended-properties" Target="/docProps/app.xml" Id="R7bcb9451f6cf4cc7" /><Relationship Type="http://schemas.openxmlformats.org/officeDocument/2006/relationships/officeDocument" Target="/ppt/presentation.xml" Id="R3cdf474909bd4f4d" /></Relationships>
</file>

<file path=ppt/presentation.xml><?xml version="1.0" encoding="utf-8"?>
<p:presentation xmlns:p="http://schemas.openxmlformats.org/presentationml/2006/main">
  <p:sldMasterIdLst>
    <p:sldMasterId xmlns:r="http://schemas.openxmlformats.org/officeDocument/2006/relationships" id="2147483648" r:id="R61cf0d3f08a34ae5"/>
  </p:sldMasterIdLst>
  <p:notesMasterIdLst>
    <p:notesMasterId xmlns:r="http://schemas.openxmlformats.org/officeDocument/2006/relationships" r:id="R4e483415276e48de"/>
  </p:notesMasterIdLst>
  <p:sldIdLst>
    <p:sldId xmlns:r="http://schemas.openxmlformats.org/officeDocument/2006/relationships" id="256" r:id="R95c299de66e04194"/>
    <p:sldId xmlns:r="http://schemas.openxmlformats.org/officeDocument/2006/relationships" id="257" r:id="R849a6d4650354872"/>
    <p:sldId xmlns:r="http://schemas.openxmlformats.org/officeDocument/2006/relationships" id="258" r:id="R994d1971004d4ca1"/>
    <p:sldId xmlns:r="http://schemas.openxmlformats.org/officeDocument/2006/relationships" id="259" r:id="Ra9397fe5deb24718"/>
    <p:sldId xmlns:r="http://schemas.openxmlformats.org/officeDocument/2006/relationships" id="260" r:id="Rbd0c034af8e1474d"/>
    <p:sldId xmlns:r="http://schemas.openxmlformats.org/officeDocument/2006/relationships" id="261" r:id="R264d128336324970"/>
    <p:sldId xmlns:r="http://schemas.openxmlformats.org/officeDocument/2006/relationships" id="262" r:id="R10c4509893bd446a"/>
    <p:sldId xmlns:r="http://schemas.openxmlformats.org/officeDocument/2006/relationships" id="263" r:id="R2da7ccc956e6487d"/>
    <p:sldId xmlns:r="http://schemas.openxmlformats.org/officeDocument/2006/relationships" id="264" r:id="R5e81e3d66755423e"/>
    <p:sldId xmlns:r="http://schemas.openxmlformats.org/officeDocument/2006/relationships" id="265" r:id="Rd93e31ccd9c541d9"/>
    <p:sldId xmlns:r="http://schemas.openxmlformats.org/officeDocument/2006/relationships" id="266" r:id="R5a84ea3c6d074d43"/>
    <p:sldId xmlns:r="http://schemas.openxmlformats.org/officeDocument/2006/relationships" id="267" r:id="Rfcd641716800440c"/>
    <p:sldId xmlns:r="http://schemas.openxmlformats.org/officeDocument/2006/relationships" id="268" r:id="Rd44305519ff646f6"/>
    <p:sldId xmlns:r="http://schemas.openxmlformats.org/officeDocument/2006/relationships" id="269" r:id="R07cbf30a5aae40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6976218cfa481f" /><Relationship Type="http://schemas.openxmlformats.org/officeDocument/2006/relationships/slideMaster" Target="/ppt/slideMasters/slideMaster1.xml" Id="R61cf0d3f08a34ae5" /><Relationship Type="http://schemas.openxmlformats.org/officeDocument/2006/relationships/notesMaster" Target="/ppt/notesMasters/notesMaster1.xml" Id="R4e483415276e48de" /><Relationship Type="http://schemas.openxmlformats.org/officeDocument/2006/relationships/presProps" Target="/ppt/presProps.xml" Id="Rbb0edb42bfb64b70" /><Relationship Type="http://schemas.openxmlformats.org/officeDocument/2006/relationships/tableStyles" Target="/ppt/tableStyles.xml" Id="R423cf930441f4c9f" /><Relationship Type="http://schemas.openxmlformats.org/officeDocument/2006/relationships/slide" Target="/ppt/slides/slide1.xml" Id="R95c299de66e04194" /><Relationship Type="http://schemas.openxmlformats.org/officeDocument/2006/relationships/slide" Target="/ppt/slides/slide2.xml" Id="R849a6d4650354872" /><Relationship Type="http://schemas.openxmlformats.org/officeDocument/2006/relationships/slide" Target="/ppt/slides/slide3.xml" Id="R994d1971004d4ca1" /><Relationship Type="http://schemas.openxmlformats.org/officeDocument/2006/relationships/slide" Target="/ppt/slides/slide4.xml" Id="Ra9397fe5deb24718" /><Relationship Type="http://schemas.openxmlformats.org/officeDocument/2006/relationships/slide" Target="/ppt/slides/slide5.xml" Id="Rbd0c034af8e1474d" /><Relationship Type="http://schemas.openxmlformats.org/officeDocument/2006/relationships/slide" Target="/ppt/slides/slide6.xml" Id="R264d128336324970" /><Relationship Type="http://schemas.openxmlformats.org/officeDocument/2006/relationships/slide" Target="/ppt/slides/slide7.xml" Id="R10c4509893bd446a" /><Relationship Type="http://schemas.openxmlformats.org/officeDocument/2006/relationships/slide" Target="/ppt/slides/slide8.xml" Id="R2da7ccc956e6487d" /><Relationship Type="http://schemas.openxmlformats.org/officeDocument/2006/relationships/slide" Target="/ppt/slides/slide9.xml" Id="R5e81e3d66755423e" /><Relationship Type="http://schemas.openxmlformats.org/officeDocument/2006/relationships/slide" Target="/ppt/slides/slide10.xml" Id="Rd93e31ccd9c541d9" /><Relationship Type="http://schemas.openxmlformats.org/officeDocument/2006/relationships/slide" Target="/ppt/slides/slide11.xml" Id="R5a84ea3c6d074d43" /><Relationship Type="http://schemas.openxmlformats.org/officeDocument/2006/relationships/slide" Target="/ppt/slides/slide12.xml" Id="Rfcd641716800440c" /><Relationship Type="http://schemas.openxmlformats.org/officeDocument/2006/relationships/slide" Target="/ppt/slides/slide13.xml" Id="Rd44305519ff646f6" /><Relationship Type="http://schemas.openxmlformats.org/officeDocument/2006/relationships/slide" Target="/ppt/slides/slide14.xml" Id="R07cbf30a5aae40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b12f98cbfc49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4876d7a18648c6" /><Relationship Type="http://schemas.openxmlformats.org/officeDocument/2006/relationships/notesMaster" Target="/ppt/notesMasters/notesMaster1.xml" Id="R6c829186bd14461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fc43a338dc482d" /><Relationship Type="http://schemas.openxmlformats.org/officeDocument/2006/relationships/notesMaster" Target="/ppt/notesMasters/notesMaster1.xml" Id="R23a56733ed744f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9789f0069440cf" /><Relationship Type="http://schemas.openxmlformats.org/officeDocument/2006/relationships/notesMaster" Target="/ppt/notesMasters/notesMaster1.xml" Id="R371fcfedbd4f469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819b9f5f6b4ddb" /><Relationship Type="http://schemas.openxmlformats.org/officeDocument/2006/relationships/notesMaster" Target="/ppt/notesMasters/notesMaster1.xml" Id="Rd6565c59946042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e5528024c64046" /><Relationship Type="http://schemas.openxmlformats.org/officeDocument/2006/relationships/notesMaster" Target="/ppt/notesMasters/notesMaster1.xml" Id="Rb9de2d559f9d4c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e9d5dbf9f94442" /><Relationship Type="http://schemas.openxmlformats.org/officeDocument/2006/relationships/notesMaster" Target="/ppt/notesMasters/notesMaster1.xml" Id="Raf8355208a5f49e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4bca49c256497e" /><Relationship Type="http://schemas.openxmlformats.org/officeDocument/2006/relationships/notesMaster" Target="/ppt/notesMasters/notesMaster1.xml" Id="Rf54528cb2ff94e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974abcd17b4e88" /><Relationship Type="http://schemas.openxmlformats.org/officeDocument/2006/relationships/notesMaster" Target="/ppt/notesMasters/notesMaster1.xml" Id="Rab517f93d508420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a5938afdc94312" /><Relationship Type="http://schemas.openxmlformats.org/officeDocument/2006/relationships/notesMaster" Target="/ppt/notesMasters/notesMaster1.xml" Id="Rb5132dd1f94b4c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6862ac827d242b0" /><Relationship Type="http://schemas.openxmlformats.org/officeDocument/2006/relationships/notesMaster" Target="/ppt/notesMasters/notesMaster1.xml" Id="Ra580d4b5d65c428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57914a55403475d" /><Relationship Type="http://schemas.openxmlformats.org/officeDocument/2006/relationships/notesMaster" Target="/ppt/notesMasters/notesMaster1.xml" Id="R7d77b62fbe9d4fb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5d4075eab04fe1" /><Relationship Type="http://schemas.openxmlformats.org/officeDocument/2006/relationships/notesMaster" Target="/ppt/notesMasters/notesMaster1.xml" Id="R0507a3fcb84141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3d47b1dd6a445c3" /><Relationship Type="http://schemas.openxmlformats.org/officeDocument/2006/relationships/notesMaster" Target="/ppt/notesMasters/notesMaster1.xml" Id="Rffae4c86e1e647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51cca014b54c12" /><Relationship Type="http://schemas.openxmlformats.org/officeDocument/2006/relationships/notesMaster" Target="/ppt/notesMasters/notesMaster1.xml" Id="R21536751964c4a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E-biessa comme un démonstrateur académique complet pour le marché tunisien des pièces automobiles d’occasion. Annoncer l’idée centrale : l’IA aide à trouver, mais les règles métier décident de la compatibilité.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Expliquer le risque concret d’une mauvaise compatibilité. La plateforme doit réduire l’incertitude tout en gardant le vendeur et les données du catalogue comme références finales. Source visuelle : capture locale de l’application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Distinguer clairement les trois rôles. Un acheteur peut demander à devenir vendeur, mais l’administrateur doit approuver la demande avant toute publication.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Illustrer la continuité du parcours, depuis la recherche jusqu’à la réputation. Les coordonnées du vendeur restent réservées aux acheteurs connectés. Source visuelle : capture locale de la fiche annonce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Mettre en avant les deux espaces spécialisés. Les images de conversation sont validées côté serveur. Les annonces vendues disparaissent immédiatement du catalogue public. Sources visuelles : captures locales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l’administration comme un mécanisme de confiance. L’IA n’obtient aucun outil de modération ou de gestion des utilisateurs. Source visuelle : capture locale du tableau de bord administrateur.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Insister sur la séparation des responsabilités. Spring et MySQL restent la frontière d’autorisation et la source de vérité. FastAPI peut évoluer indépendamment et une panne IA ne bloque pas les opérations principales du marketplace.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Décrire la chaîne complète. Le modèle extrait des contraintes mais Spring recharge les identifiants depuis MySQL et reconstruit la réponse à partir des annonces actives. Source visuelle : capture locale de la recherche IA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Comparer le modèle de base avec le modèle adapté sur le jeu de test tenu à l’écart. La validation déterministe corrige notamment la sérialisation de l’année. Source : ai-service/training/README.md, résultats v2 enregistrés.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Préciser qu’il s’agit d’un classement déterministe explicable, pas d’un second modèle entraîné. Les messages privés et les requêtes brutes ne quittent pas Spring. Source visuelle : diagramme du rapport E-biessa.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les quatre couches. Les coordonnées vendeur ne sont visibles qu’aux acheteurs connectés. Les administrateurs disposent d’un journal d’audit. Le service IA n’accède ni aux mots de passe ni aux messages privés.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reste académique et local. Jenkins construit des artefacts et des images reproductibles. La publication vers GHCR reste optionnelle et désactivée par défaut. Les alertes apparaissent dans Alertmanager sans destinataire externe.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Présenter les résultats de la campagne du 21 septembre 2026. Les nombres représentent des cas de test, pas un taux de couverture. Les intégrations externes dépendent de comptes ou services non inclus dans le démonstrateur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Conclure sur la valeur académique : une solution cohérente de bout en bout, une IA contrôlée et des limites clairement documentées. Inviter les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aa1b4edb0543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bfd50c7cb8499e" /><Relationship Type="http://schemas.openxmlformats.org/officeDocument/2006/relationships/slideLayout" Target="/ppt/slideLayouts/slideLayout1.xml" Id="R25a7a2de3b134f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a7a2de3b134f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bcfb657f29e4928" /><Relationship Type="http://schemas.openxmlformats.org/officeDocument/2006/relationships/image" Target="/ppt/media/image.png" Id="R34497197ee054364" /><Relationship Type="http://schemas.openxmlformats.org/officeDocument/2006/relationships/notesSlide" Target="/ppt/notesSlides/notesSlide1.xml" Id="R828107351a3540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8e44c907074565" /><Relationship Type="http://schemas.openxmlformats.org/officeDocument/2006/relationships/image" Target="/ppt/media/image2.png" Id="Rd7c7cb1123db426e" /><Relationship Type="http://schemas.openxmlformats.org/officeDocument/2006/relationships/notesSlide" Target="/ppt/notesSlides/notesSlide2.xml" Id="R81a53b787eec49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834528c0b94349" /><Relationship Type="http://schemas.openxmlformats.org/officeDocument/2006/relationships/notesSlide" Target="/ppt/notesSlides/notesSlide3.xml" Id="R580036412ac24d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f15d334d8b1460b" /><Relationship Type="http://schemas.openxmlformats.org/officeDocument/2006/relationships/image" Target="/ppt/media/image3.png" Id="R59a75caa71df4fed" /><Relationship Type="http://schemas.openxmlformats.org/officeDocument/2006/relationships/notesSlide" Target="/ppt/notesSlides/notesSlide4.xml" Id="Rcaeeb8def37742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ef20c945a04958" /><Relationship Type="http://schemas.openxmlformats.org/officeDocument/2006/relationships/image" Target="/ppt/media/image4.png" Id="Re2e0599308924128" /><Relationship Type="http://schemas.openxmlformats.org/officeDocument/2006/relationships/image" Target="/ppt/media/image5.png" Id="R31742d50f01940a0" /><Relationship Type="http://schemas.openxmlformats.org/officeDocument/2006/relationships/notesSlide" Target="/ppt/notesSlides/notesSlide5.xml" Id="Rc42b415cb8f84d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9c9a15ef604588" /><Relationship Type="http://schemas.openxmlformats.org/officeDocument/2006/relationships/image" Target="/ppt/media/image6.png" Id="R6cf4ad34ee7147c6" /><Relationship Type="http://schemas.openxmlformats.org/officeDocument/2006/relationships/notesSlide" Target="/ppt/notesSlides/notesSlide6.xml" Id="Ra615898b7fdc48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8c2d927b844e44" /><Relationship Type="http://schemas.openxmlformats.org/officeDocument/2006/relationships/notesSlide" Target="/ppt/notesSlides/notesSlide7.xml" Id="R90ebed698c1f49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d64ebb623b548ce" /><Relationship Type="http://schemas.openxmlformats.org/officeDocument/2006/relationships/image" Target="/ppt/media/image7.png" Id="R76421f8cbdb94ebf" /><Relationship Type="http://schemas.openxmlformats.org/officeDocument/2006/relationships/notesSlide" Target="/ppt/notesSlides/notesSlide8.xml" Id="R09f3e9955c67443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d9904b61a114e23" /><Relationship Type="http://schemas.openxmlformats.org/officeDocument/2006/relationships/chart" Target="/ppt/slides/charts/chart1.xml" Id="Rf91fb5f260764df6" /><Relationship Type="http://schemas.openxmlformats.org/officeDocument/2006/relationships/notesSlide" Target="/ppt/notesSlides/notesSlide9.xml" Id="R706a2752e3704c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7eafd60dea483f" /><Relationship Type="http://schemas.openxmlformats.org/officeDocument/2006/relationships/image" Target="/ppt/media/image8.png" Id="R696dc9b14fa64cc5" /><Relationship Type="http://schemas.openxmlformats.org/officeDocument/2006/relationships/notesSlide" Target="/ppt/notesSlides/notesSlide10.xml" Id="R9fcbd672faa1488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9c0fd1603914fa9" /><Relationship Type="http://schemas.openxmlformats.org/officeDocument/2006/relationships/notesSlide" Target="/ppt/notesSlides/notesSlide11.xml" Id="R4beeefbe1f8641f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d2d3d8b1e854eb0" /><Relationship Type="http://schemas.openxmlformats.org/officeDocument/2006/relationships/notesSlide" Target="/ppt/notesSlides/notesSlide12.xml" Id="Rf6155212bfb041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415e9cbcda047a4" /><Relationship Type="http://schemas.openxmlformats.org/officeDocument/2006/relationships/chart" Target="/ppt/slides/charts/chart2.xml" Id="R18ad27c3e34d4be5" /><Relationship Type="http://schemas.openxmlformats.org/officeDocument/2006/relationships/notesSlide" Target="/ppt/notesSlides/notesSlide13.xml" Id="R2cadc95ffcbd434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11de00aaa84ea8" /><Relationship Type="http://schemas.openxmlformats.org/officeDocument/2006/relationships/notesSlide" Target="/ppt/notesSlides/notesSlide14.xml" Id="R4601ed683054402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Avant adaptation</c:v>
          </c:tx>
          <c:spPr>
            <a:solidFill xmlns:a="http://schemas.openxmlformats.org/drawingml/2006/main">
              <a:srgbClr val="BFD8CB"/>
            </a:solidFill>
          </c:spPr>
          <c:cat>
            <c:strRef>
              <c:f>'Chart Data'!$A$2:$A$4</c:f>
              <c:strCache>
                <c:ptCount val="3"/>
                <c:pt idx="0">
                  <c:v>Position</c:v>
                </c:pt>
                <c:pt idx="1">
                  <c:v>Catégorie</c:v>
                </c:pt>
                <c:pt idx="2">
                  <c:v>Type de pièce</c:v>
                </c:pt>
              </c:strCache>
            </c:strRef>
          </c:cat>
          <c:val>
            <c:numRef>
              <c:f>'Chart Data'!$B$2:$B$4</c:f>
              <c:numCache>
                <c:formatCode>General</c:formatCode>
                <c:ptCount val="3"/>
                <c:pt idx="0">
                  <c:v>87.5</c:v>
                </c:pt>
                <c:pt idx="1">
                  <c:v>8.3</c:v>
                </c:pt>
                <c:pt idx="2">
                  <c:v>13.3</c:v>
                </c:pt>
              </c:numCache>
            </c:numRef>
          </c:val>
        </c:ser>
        <c:ser>
          <c:idx val="1"/>
          <c:order val="1"/>
          <c:tx>
            <c:v>Après adaptation</c:v>
          </c:tx>
          <c:spPr>
            <a:solidFill xmlns:a="http://schemas.openxmlformats.org/drawingml/2006/main">
              <a:srgbClr val="F45837"/>
            </a:solidFill>
          </c:spPr>
          <c:cat>
            <c:strRef>
              <c:f>'Chart Data'!$C$2:$C$4</c:f>
              <c:strCache>
                <c:ptCount val="3"/>
                <c:pt idx="0">
                  <c:v>Position</c:v>
                </c:pt>
                <c:pt idx="1">
                  <c:v>Catégorie</c:v>
                </c:pt>
                <c:pt idx="2">
                  <c:v>Type de pièce</c:v>
                </c:pt>
              </c:strCache>
            </c:strRef>
          </c:cat>
          <c:val>
            <c:numRef>
              <c:f>'Chart Data'!$D$2:$D$4</c:f>
              <c:numCache>
                <c:formatCode>General</c:formatCode>
                <c:ptCount val="3"/>
                <c:pt idx="0">
                  <c:v>99.2</c:v>
                </c:pt>
                <c:pt idx="1">
                  <c:v>99.2</c:v>
                </c:pt>
                <c:pt idx="2">
                  <c:v>99.2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C8D8D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8D8D0"/>
            </a:solid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6F3E9"/>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legend>
    <c:plotVisOnly val="1"/>
  </c:chart>
  <c:spPr>
    <a:solidFill xmlns:a="http://schemas.openxmlformats.org/drawingml/2006/main">
      <a:srgbClr val="F6F3E9"/>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Tests réussis</c:v>
          </c:tx>
          <c:spPr>
            <a:solidFill xmlns:a="http://schemas.openxmlformats.org/drawingml/2006/main">
              <a:srgbClr val="F45837"/>
            </a:solidFill>
          </c:spPr>
          <c:dPt>
            <c:idx val="1"/>
            <c:invertIfNegative val="0"/>
            <c:spPr>
              <a:solidFill xmlns:a="http://schemas.openxmlformats.org/drawingml/2006/main">
                <a:srgbClr val="164E3D"/>
              </a:solidFill>
            </c:spPr>
          </c:dPt>
          <c:dPt>
            <c:idx val="2"/>
            <c:invertIfNegative val="0"/>
            <c:spPr>
              <a:solidFill xmlns:a="http://schemas.openxmlformats.org/drawingml/2006/main">
                <a:srgbClr val="BFD8CB"/>
              </a:solidFill>
            </c:spPr>
          </c:dPt>
          <c:dPt>
            <c:idx val="3"/>
            <c:invertIfNegative val="0"/>
            <c:spPr>
              <a:solidFill xmlns:a="http://schemas.openxmlformats.org/drawingml/2006/main">
                <a:srgbClr val="FBE1D7"/>
              </a:solidFill>
            </c:spPr>
          </c:dPt>
          <c:cat>
            <c:strRef>
              <c:f>'Chart Data'!$A$2:$A$5</c:f>
              <c:strCache>
                <c:ptCount val="4"/>
                <c:pt idx="0">
                  <c:v>Spring Boot</c:v>
                </c:pt>
                <c:pt idx="1">
                  <c:v>FastAPI</c:v>
                </c:pt>
                <c:pt idx="2">
                  <c:v>Angular</c:v>
                </c:pt>
                <c:pt idx="3">
                  <c:v>Playwright</c:v>
                </c:pt>
              </c:strCache>
            </c:strRef>
          </c:cat>
          <c:val>
            <c:numRef>
              <c:f>'Chart Data'!$B$2:$B$5</c:f>
              <c:numCache>
                <c:formatCode>General</c:formatCode>
                <c:ptCount val="4"/>
                <c:pt idx="0">
                  <c:v>63</c:v>
                </c:pt>
                <c:pt idx="1">
                  <c:v>29</c:v>
                </c:pt>
                <c:pt idx="2">
                  <c:v>52</c:v>
                </c:pt>
                <c:pt idx="3">
                  <c:v>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C8D8D0"/>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8D8D0"/>
            </a:solidFill>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spPr>
        <a:solidFill xmlns:a="http://schemas.openxmlformats.org/drawingml/2006/main">
          <a:srgbClr val="FBFAF5"/>
        </a:solidFill>
      </c:spPr>
    </c:plotArea>
    <c:plotVisOnly val="1"/>
  </c:chart>
  <c:spPr>
    <a:solidFill xmlns:a="http://schemas.openxmlformats.org/drawingml/2006/main">
      <a:srgbClr val="FBFAF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4497197ee054364"/>
          <a:stretch xmlns:a="http://schemas.openxmlformats.org/drawingml/2006/main"/>
        </p:blipFill>
        <p:spPr>
          <a:xfrm xmlns:a="http://schemas.openxmlformats.org/drawingml/2006/main">
            <a:off x="666750" y="432955"/>
            <a:ext cx="2857500" cy="1039091"/>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C24CB09-F139-4688-B466-F29EC64BD7A0}"/>
              </a:ext>
            </a:extLst>
          </p:cNvPr>
          <p:cNvSpPr>
            <a:spLocks xmlns:a="http://schemas.openxmlformats.org/drawingml/2006/main" noGrp="1"/>
          </p:cNvSpPr>
          <p:nvPr/>
        </p:nvSpPr>
        <p:spPr>
          <a:xfrm xmlns:a="http://schemas.openxmlformats.org/drawingml/2006/main">
            <a:off x="685800" y="1952625"/>
            <a:ext cx="695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900" b="1" i="0">
                <a:solidFill>
                  <a:srgbClr val="17231F"/>
                </a:solidFill>
                <a:latin typeface="Arial"/>
                <a:ea typeface="Arial"/>
                <a:cs typeface="Arial"/>
              </a:defRPr>
            </a:pPr>
            <a:r>
              <a:rPr sz="3900" b="1" i="0">
                <a:solidFill>
                  <a:srgbClr val="17231F"/>
                </a:solidFill>
                <a:latin typeface="Arial"/>
                <a:ea typeface="Arial"/>
                <a:cs typeface="Arial"/>
              </a:rPr>
              <a:t>Conception et réalisation</a:t>
            </a:r>
          </a:p>
          <a:p xmlns:a="http://schemas.openxmlformats.org/drawingml/2006/main">
            <a:pPr algn="l">
              <a:defRPr sz="3900" b="1" i="0">
                <a:solidFill>
                  <a:srgbClr val="17231F"/>
                </a:solidFill>
                <a:latin typeface="Arial"/>
                <a:ea typeface="Arial"/>
                <a:cs typeface="Arial"/>
              </a:defRPr>
            </a:pPr>
            <a:r>
              <a:rPr sz="3900" b="1" i="0">
                <a:solidFill>
                  <a:srgbClr val="17231F"/>
                </a:solidFill>
                <a:latin typeface="Arial"/>
                <a:ea typeface="Arial"/>
                <a:cs typeface="Arial"/>
              </a:rPr>
              <a:t>de E-biessa</a:t>
            </a:r>
          </a:p>
        </p:txBody>
      </p:sp>
      <p:sp>
        <p:nvSpPr>
          <p:cNvPr id="3" name="">
            <a:extLst xmlns:a="http://schemas.openxmlformats.org/drawingml/2006/main">
              <a:ext uri="{FF2B5EF4-FFF2-40B4-BE49-F238E27FC236}">
                <a16:creationId xmlns:a16="http://schemas.microsoft.com/office/drawing/2014/main" id="{4168A21D-B12E-4AB8-A3CB-FBB93EE44E26}"/>
              </a:ext>
            </a:extLst>
          </p:cNvPr>
          <p:cNvSpPr>
            <a:spLocks xmlns:a="http://schemas.openxmlformats.org/drawingml/2006/main" noGrp="1"/>
          </p:cNvSpPr>
          <p:nvPr/>
        </p:nvSpPr>
        <p:spPr>
          <a:xfrm xmlns:a="http://schemas.openxmlformats.org/drawingml/2006/main">
            <a:off x="714375" y="3762375"/>
            <a:ext cx="876300" cy="76200"/>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BF57E81-5055-498A-8EBD-07282362C144}"/>
              </a:ext>
            </a:extLst>
          </p:cNvPr>
          <p:cNvSpPr>
            <a:spLocks xmlns:a="http://schemas.openxmlformats.org/drawingml/2006/main" noGrp="1"/>
          </p:cNvSpPr>
          <p:nvPr/>
        </p:nvSpPr>
        <p:spPr>
          <a:xfrm xmlns:a="http://schemas.openxmlformats.org/drawingml/2006/main">
            <a:off x="714375" y="4095750"/>
            <a:ext cx="638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0" i="0">
                <a:solidFill>
                  <a:srgbClr val="164E3D"/>
                </a:solidFill>
                <a:latin typeface="Arial"/>
                <a:ea typeface="Arial"/>
                <a:cs typeface="Arial"/>
              </a:defRPr>
            </a:pPr>
            <a:r>
              <a:rPr sz="2025" b="0" i="0">
                <a:solidFill>
                  <a:srgbClr val="164E3D"/>
                </a:solidFill>
                <a:latin typeface="Arial"/>
                <a:ea typeface="Arial"/>
                <a:cs typeface="Arial"/>
              </a:rPr>
              <a:t>Place de marché intelligente de pièces automobiles d’occasion</a:t>
            </a:r>
          </a:p>
        </p:txBody>
      </p:sp>
      <p:sp>
        <p:nvSpPr>
          <p:cNvPr id="5" name="">
            <a:extLst xmlns:a="http://schemas.openxmlformats.org/drawingml/2006/main">
              <a:ext uri="{FF2B5EF4-FFF2-40B4-BE49-F238E27FC236}">
                <a16:creationId xmlns:a16="http://schemas.microsoft.com/office/drawing/2014/main" id="{DF35921E-E000-4273-B936-113102F60290}"/>
              </a:ext>
            </a:extLst>
          </p:cNvPr>
          <p:cNvSpPr>
            <a:spLocks xmlns:a="http://schemas.openxmlformats.org/drawingml/2006/main" noGrp="1"/>
          </p:cNvSpPr>
          <p:nvPr/>
        </p:nvSpPr>
        <p:spPr>
          <a:xfrm xmlns:a="http://schemas.openxmlformats.org/drawingml/2006/main">
            <a:off x="714375" y="57150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17231F"/>
                </a:solidFill>
                <a:latin typeface="Arial"/>
                <a:ea typeface="Arial"/>
                <a:cs typeface="Arial"/>
              </a:defRPr>
            </a:pPr>
            <a:r>
              <a:rPr sz="1575" b="1" i="0">
                <a:solidFill>
                  <a:srgbClr val="17231F"/>
                </a:solidFill>
                <a:latin typeface="Arial"/>
                <a:ea typeface="Arial"/>
                <a:cs typeface="Arial"/>
              </a:rPr>
              <a:t>Jasser Noomani</a:t>
            </a:r>
          </a:p>
        </p:txBody>
      </p:sp>
      <p:sp>
        <p:nvSpPr>
          <p:cNvPr id="6" name="">
            <a:extLst xmlns:a="http://schemas.openxmlformats.org/drawingml/2006/main">
              <a:ext uri="{FF2B5EF4-FFF2-40B4-BE49-F238E27FC236}">
                <a16:creationId xmlns:a16="http://schemas.microsoft.com/office/drawing/2014/main" id="{9E77A084-CE13-425E-839E-8DA2E7246A06}"/>
              </a:ext>
            </a:extLst>
          </p:cNvPr>
          <p:cNvSpPr>
            <a:spLocks xmlns:a="http://schemas.openxmlformats.org/drawingml/2006/main" noGrp="1"/>
          </p:cNvSpPr>
          <p:nvPr/>
        </p:nvSpPr>
        <p:spPr>
          <a:xfrm xmlns:a="http://schemas.openxmlformats.org/drawingml/2006/main">
            <a:off x="714375" y="609600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Projet académique de fin de stage · 2025–2026</a:t>
            </a:r>
          </a:p>
        </p:txBody>
      </p:sp>
      <p:sp>
        <p:nvSpPr>
          <p:cNvPr id="7" name="">
            <a:extLst xmlns:a="http://schemas.openxmlformats.org/drawingml/2006/main">
              <a:ext uri="{FF2B5EF4-FFF2-40B4-BE49-F238E27FC236}">
                <a16:creationId xmlns:a16="http://schemas.microsoft.com/office/drawing/2014/main" id="{4989AD5D-A5F7-47EC-994F-F0ABC2C4925D}"/>
              </a:ext>
            </a:extLst>
          </p:cNvPr>
          <p:cNvSpPr>
            <a:spLocks xmlns:a="http://schemas.openxmlformats.org/drawingml/2006/main" noGrp="1"/>
          </p:cNvSpPr>
          <p:nvPr/>
        </p:nvSpPr>
        <p:spPr>
          <a:xfrm xmlns:a="http://schemas.openxmlformats.org/drawingml/2006/main">
            <a:off x="8572500" y="0"/>
            <a:ext cx="3619500" cy="6858000"/>
          </a:xfrm>
          <a:prstGeom xmlns:a="http://schemas.openxmlformats.org/drawingml/2006/main" prst="rect">
            <a:avLst/>
          </a:prstGeom>
          <a:solidFill xmlns:a="http://schemas.openxmlformats.org/drawingml/2006/main">
            <a:srgbClr val="0B302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C7CBD4-1B33-4E23-A5EF-3FC0923E5C4F}"/>
              </a:ext>
            </a:extLst>
          </p:cNvPr>
          <p:cNvSpPr>
            <a:spLocks xmlns:a="http://schemas.openxmlformats.org/drawingml/2006/main" noGrp="1"/>
          </p:cNvSpPr>
          <p:nvPr/>
        </p:nvSpPr>
        <p:spPr>
          <a:xfrm xmlns:a="http://schemas.openxmlformats.org/drawingml/2006/main">
            <a:off x="9001125" y="233362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BFD8CB"/>
                </a:solidFill>
                <a:latin typeface="Arial"/>
                <a:ea typeface="Arial"/>
                <a:cs typeface="Arial"/>
              </a:defRPr>
            </a:pPr>
            <a:r>
              <a:rPr sz="2100" b="1" i="0">
                <a:solidFill>
                  <a:srgbClr val="BFD8CB"/>
                </a:solidFill>
                <a:latin typeface="Arial"/>
                <a:ea typeface="Arial"/>
                <a:cs typeface="Arial"/>
              </a:rPr>
              <a:t>Marketplace</a:t>
            </a:r>
          </a:p>
        </p:txBody>
      </p:sp>
      <p:sp>
        <p:nvSpPr>
          <p:cNvPr id="9" name="">
            <a:extLst xmlns:a="http://schemas.openxmlformats.org/drawingml/2006/main">
              <a:ext uri="{FF2B5EF4-FFF2-40B4-BE49-F238E27FC236}">
                <a16:creationId xmlns:a16="http://schemas.microsoft.com/office/drawing/2014/main" id="{75B4AA21-C551-45B5-BCCA-E2073AB563F5}"/>
              </a:ext>
            </a:extLst>
          </p:cNvPr>
          <p:cNvSpPr>
            <a:spLocks xmlns:a="http://schemas.openxmlformats.org/drawingml/2006/main" noGrp="1"/>
          </p:cNvSpPr>
          <p:nvPr/>
        </p:nvSpPr>
        <p:spPr>
          <a:xfrm xmlns:a="http://schemas.openxmlformats.org/drawingml/2006/main">
            <a:off x="9001125" y="30480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FFFFF"/>
                </a:solidFill>
                <a:latin typeface="Arial"/>
                <a:ea typeface="Arial"/>
                <a:cs typeface="Arial"/>
              </a:defRPr>
            </a:pPr>
            <a:r>
              <a:rPr sz="2100" b="1" i="0">
                <a:solidFill>
                  <a:srgbClr val="FFFFFF"/>
                </a:solidFill>
                <a:latin typeface="Arial"/>
                <a:ea typeface="Arial"/>
                <a:cs typeface="Arial"/>
              </a:rPr>
              <a:t>IA locale</a:t>
            </a:r>
          </a:p>
        </p:txBody>
      </p:sp>
      <p:sp>
        <p:nvSpPr>
          <p:cNvPr id="10" name="">
            <a:extLst xmlns:a="http://schemas.openxmlformats.org/drawingml/2006/main">
              <a:ext uri="{FF2B5EF4-FFF2-40B4-BE49-F238E27FC236}">
                <a16:creationId xmlns:a16="http://schemas.microsoft.com/office/drawing/2014/main" id="{A60D7506-61A2-4487-A011-4F99E04199F6}"/>
              </a:ext>
            </a:extLst>
          </p:cNvPr>
          <p:cNvSpPr>
            <a:spLocks xmlns:a="http://schemas.openxmlformats.org/drawingml/2006/main" noGrp="1"/>
          </p:cNvSpPr>
          <p:nvPr/>
        </p:nvSpPr>
        <p:spPr>
          <a:xfrm xmlns:a="http://schemas.openxmlformats.org/drawingml/2006/main">
            <a:off x="9001125" y="3762375"/>
            <a:ext cx="2667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Compatibilité</a:t>
            </a:r>
          </a:p>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vérifiée</a:t>
            </a:r>
          </a:p>
        </p:txBody>
      </p:sp>
    </p:spTree>
    <p:extLst>
      <p:ext uri="{BB962C8B-B14F-4D97-AF65-F5344CB8AC3E}">
        <p14:creationId xmlns:p14="http://schemas.microsoft.com/office/powerpoint/2010/main" val="1839055567"/>
      </p:ext>
    </p:extLst>
  </p:cSld>
</p:sld>
</file>

<file path=ppt/slides/slide2.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E3249A-7826-46A6-8A57-F72BA67774D4}"/>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54D1D7ED-09B1-4C40-AA35-6DB65C5C7145}"/>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32865BA-7F21-4E99-A785-0CEC5A58B7BE}"/>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Problématique</a:t>
            </a:r>
          </a:p>
        </p:txBody>
      </p:sp>
      <p:sp>
        <p:nvSpPr>
          <p:cNvPr id="4" name="">
            <a:extLst xmlns:a="http://schemas.openxmlformats.org/drawingml/2006/main">
              <a:ext uri="{FF2B5EF4-FFF2-40B4-BE49-F238E27FC236}">
                <a16:creationId xmlns:a16="http://schemas.microsoft.com/office/drawing/2014/main" id="{A8FF1D3B-780D-493E-A823-5F65918D24D2}"/>
              </a:ext>
            </a:extLst>
          </p:cNvPr>
          <p:cNvSpPr>
            <a:spLocks xmlns:a="http://schemas.openxmlformats.org/drawingml/2006/main" noGrp="1"/>
          </p:cNvSpPr>
          <p:nvPr/>
        </p:nvSpPr>
        <p:spPr>
          <a:xfrm xmlns:a="http://schemas.openxmlformats.org/drawingml/2006/main">
            <a:off x="666750" y="11906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i="0">
                <a:solidFill>
                  <a:srgbClr val="0B3026"/>
                </a:solidFill>
                <a:latin typeface="Arial"/>
                <a:ea typeface="Arial"/>
                <a:cs typeface="Arial"/>
              </a:defRPr>
            </a:pPr>
            <a:r>
              <a:rPr sz="2325" b="1" i="0">
                <a:solidFill>
                  <a:srgbClr val="0B3026"/>
                </a:solidFill>
                <a:latin typeface="Arial"/>
                <a:ea typeface="Arial"/>
                <a:cs typeface="Arial"/>
              </a:rPr>
              <a:t>Trouver une pièce d’occasion reste difficile</a:t>
            </a:r>
          </a:p>
        </p:txBody>
      </p:sp>
      <p:sp>
        <p:nvSpPr>
          <p:cNvPr id="5" name="">
            <a:extLst xmlns:a="http://schemas.openxmlformats.org/drawingml/2006/main">
              <a:ext uri="{FF2B5EF4-FFF2-40B4-BE49-F238E27FC236}">
                <a16:creationId xmlns:a16="http://schemas.microsoft.com/office/drawing/2014/main" id="{99E03D10-EFC4-4D8C-9D80-F54F6B623C2B}"/>
              </a:ext>
            </a:extLst>
          </p:cNvPr>
          <p:cNvSpPr>
            <a:spLocks xmlns:a="http://schemas.openxmlformats.org/drawingml/2006/main" noGrp="1"/>
          </p:cNvSpPr>
          <p:nvPr/>
        </p:nvSpPr>
        <p:spPr>
          <a:xfrm xmlns:a="http://schemas.openxmlformats.org/drawingml/2006/main">
            <a:off x="666750" y="2143125"/>
            <a:ext cx="45243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Les annonces utilisent des références et des descriptions hétérogènes.</a:t>
            </a:r>
          </a:p>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La compatibilité dépend du véhicule, de l’année, du moteur et de la position.</a:t>
            </a:r>
          </a:p>
          <a:p xmlns:a="http://schemas.openxmlformats.org/drawingml/2006/main">
            <a:pPr marL="228600" indent="-114300">
              <a:spcAft>
                <a:spcPts val="1100"/>
              </a:spcAft>
              <a:buChar char="•"/>
              <a:defRPr sz="1575">
                <a:solidFill>
                  <a:srgbClr val="17231F"/>
                </a:solidFill>
                <a:latin typeface="Arial"/>
                <a:ea typeface="Arial"/>
                <a:cs typeface="Arial"/>
              </a:defRPr>
            </a:pPr>
            <a:r>
              <a:rPr sz="1575">
                <a:solidFill>
                  <a:srgbClr val="17231F"/>
                </a:solidFill>
                <a:latin typeface="Arial"/>
                <a:ea typeface="Arial"/>
                <a:cs typeface="Arial"/>
              </a:rPr>
              <a:t>Le contact direct manque souvent de structure et de garanties de confiance.</a:t>
            </a:r>
          </a:p>
        </p:txBody>
      </p:sp>
      <p:sp>
        <p:nvSpPr>
          <p:cNvPr id="6" name="">
            <a:extLst xmlns:a="http://schemas.openxmlformats.org/drawingml/2006/main">
              <a:ext uri="{FF2B5EF4-FFF2-40B4-BE49-F238E27FC236}">
                <a16:creationId xmlns:a16="http://schemas.microsoft.com/office/drawing/2014/main" id="{EC22CBC5-1611-45B2-9CA6-6FA4EAFB353F}"/>
              </a:ext>
            </a:extLst>
          </p:cNvPr>
          <p:cNvSpPr>
            <a:spLocks xmlns:a="http://schemas.openxmlformats.org/drawingml/2006/main" noGrp="1"/>
          </p:cNvSpPr>
          <p:nvPr/>
        </p:nvSpPr>
        <p:spPr>
          <a:xfrm xmlns:a="http://schemas.openxmlformats.org/drawingml/2006/main">
            <a:off x="666750" y="51435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1" i="0">
                <a:solidFill>
                  <a:srgbClr val="F45837"/>
                </a:solidFill>
                <a:latin typeface="Arial"/>
                <a:ea typeface="Arial"/>
                <a:cs typeface="Arial"/>
              </a:defRPr>
            </a:pPr>
            <a:r>
              <a:rPr sz="1125" b="1" i="0">
                <a:solidFill>
                  <a:srgbClr val="F45837"/>
                </a:solidFill>
                <a:latin typeface="Arial"/>
                <a:ea typeface="Arial"/>
                <a:cs typeface="Arial"/>
              </a:rPr>
              <a:t>Question de conception</a:t>
            </a:r>
          </a:p>
        </p:txBody>
      </p:sp>
      <p:sp>
        <p:nvSpPr>
          <p:cNvPr id="7" name="">
            <a:extLst xmlns:a="http://schemas.openxmlformats.org/drawingml/2006/main">
              <a:ext uri="{FF2B5EF4-FFF2-40B4-BE49-F238E27FC236}">
                <a16:creationId xmlns:a16="http://schemas.microsoft.com/office/drawing/2014/main" id="{87FCA68F-6D24-4217-AF85-B44DE2F55FEE}"/>
              </a:ext>
            </a:extLst>
          </p:cNvPr>
          <p:cNvSpPr>
            <a:spLocks xmlns:a="http://schemas.openxmlformats.org/drawingml/2006/main" noGrp="1"/>
          </p:cNvSpPr>
          <p:nvPr/>
        </p:nvSpPr>
        <p:spPr>
          <a:xfrm xmlns:a="http://schemas.openxmlformats.org/drawingml/2006/main">
            <a:off x="666750" y="5476875"/>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i="0">
                <a:solidFill>
                  <a:srgbClr val="17231F"/>
                </a:solidFill>
                <a:latin typeface="Arial"/>
                <a:ea typeface="Arial"/>
                <a:cs typeface="Arial"/>
              </a:defRPr>
            </a:pPr>
            <a:r>
              <a:rPr sz="1800" b="1" i="0">
                <a:solidFill>
                  <a:srgbClr val="17231F"/>
                </a:solidFill>
                <a:latin typeface="Arial"/>
                <a:ea typeface="Arial"/>
                <a:cs typeface="Arial"/>
              </a:rPr>
              <a:t>Comment simplifier la recherche sans laisser l’IA inventer une compatibilité ?</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7c7cb1123db426e"/>
          <a:srcRect xmlns:a="http://schemas.openxmlformats.org/drawingml/2006/main" l="2000" t="2000" r="2000" b="12000"/>
          <a:stretch xmlns:a="http://schemas.openxmlformats.org/drawingml/2006/main"/>
        </p:blipFill>
        <p:spPr>
          <a:xfrm xmlns:a="http://schemas.openxmlformats.org/drawingml/2006/main">
            <a:off x="5810250" y="1143000"/>
            <a:ext cx="5715000" cy="4762500"/>
          </a:xfrm>
          <a:prstGeom xmlns:a="http://schemas.openxmlformats.org/drawingml/2006/main" prst="roundRect">
            <a:avLst>
              <a:gd name="adj" fmla="val 3600"/>
            </a:avLst>
          </a:prstGeom>
        </p:spPr>
      </p:pic>
      <p:sp>
        <p:nvSpPr>
          <p:cNvPr id="9" name="">
            <a:extLst xmlns:a="http://schemas.openxmlformats.org/drawingml/2006/main">
              <a:ext uri="{FF2B5EF4-FFF2-40B4-BE49-F238E27FC236}">
                <a16:creationId xmlns:a16="http://schemas.microsoft.com/office/drawing/2014/main" id="{B46BD7F6-4E77-436D-B252-D170501E44A3}"/>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0" name="">
            <a:extLst xmlns:a="http://schemas.openxmlformats.org/drawingml/2006/main">
              <a:ext uri="{FF2B5EF4-FFF2-40B4-BE49-F238E27FC236}">
                <a16:creationId xmlns:a16="http://schemas.microsoft.com/office/drawing/2014/main" id="{C1CF3923-38CB-444E-B388-E092898ED2EB}"/>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02</a:t>
            </a:r>
          </a:p>
        </p:txBody>
      </p:sp>
    </p:spTree>
    <p:extLst>
      <p:ext uri="{BB962C8B-B14F-4D97-AF65-F5344CB8AC3E}">
        <p14:creationId xmlns:p14="http://schemas.microsoft.com/office/powerpoint/2010/main" val="1908471452"/>
      </p:ext>
    </p:extLst>
  </p:cSld>
</p:sld>
</file>

<file path=ppt/slides/slide3.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cxnSp>
        <p:nvCxnSpPr>
          <p:cNvPr id="22" name=""/>
          <p:cNvCxnSpPr>
            <a:stCxn xmlns:a="http://schemas.openxmlformats.org/drawingml/2006/main" id="13" idx="1"/>
            <a:endCxn xmlns:a="http://schemas.openxmlformats.org/drawingml/2006/main" id="4" idx="3"/>
          </p:cNvCxnSpPr>
          <p:nvPr/>
        </p:nvCxnSpPr>
        <p:spPr>
          <a:xfrm xmlns:a="http://schemas.openxmlformats.org/drawingml/2006/main" flipH="1" flipV="1">
            <a:off x="7477125" y="3333750"/>
            <a:ext cx="1143000" cy="357188"/>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23" name=""/>
          <p:cNvCxnSpPr>
            <a:stCxn xmlns:a="http://schemas.openxmlformats.org/drawingml/2006/main" id="10" idx="3"/>
            <a:endCxn xmlns:a="http://schemas.openxmlformats.org/drawingml/2006/main" id="4" idx="1"/>
          </p:cNvCxnSpPr>
          <p:nvPr/>
        </p:nvCxnSpPr>
        <p:spPr>
          <a:xfrm xmlns:a="http://schemas.openxmlformats.org/drawingml/2006/main" flipV="1">
            <a:off x="3571875" y="3333750"/>
            <a:ext cx="1143000" cy="1643063"/>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cxnSp>
        <p:nvCxnSpPr>
          <p:cNvPr id="24" name=""/>
          <p:cNvCxnSpPr>
            <a:stCxn xmlns:a="http://schemas.openxmlformats.org/drawingml/2006/main" id="7" idx="3"/>
            <a:endCxn xmlns:a="http://schemas.openxmlformats.org/drawingml/2006/main" id="4" idx="1"/>
          </p:cNvCxnSpPr>
          <p:nvPr/>
        </p:nvCxnSpPr>
        <p:spPr>
          <a:xfrm xmlns:a="http://schemas.openxmlformats.org/drawingml/2006/main">
            <a:off x="3571875" y="2452688"/>
            <a:ext cx="1143000" cy="881063"/>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sp>
        <p:nvSpPr>
          <p:cNvPr id="25" name="">
            <a:extLst xmlns:a="http://schemas.openxmlformats.org/drawingml/2006/main">
              <a:ext uri="{FF2B5EF4-FFF2-40B4-BE49-F238E27FC236}">
                <a16:creationId xmlns:a16="http://schemas.microsoft.com/office/drawing/2014/main" id="{DE08F377-7D6A-42AC-9D06-5458735BA3A7}"/>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0F8CA2E7-E121-4273-A7CE-040282D1940B}"/>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D6D33D-3573-4D94-8FD4-84D63B994E4E}"/>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Acteurs et périmètre fonctionnel</a:t>
            </a:r>
          </a:p>
        </p:txBody>
      </p:sp>
      <p:sp>
        <p:nvSpPr>
          <p:cNvPr id="4" name="">
            <a:extLst xmlns:a="http://schemas.openxmlformats.org/drawingml/2006/main">
              <a:ext uri="{FF2B5EF4-FFF2-40B4-BE49-F238E27FC236}">
                <a16:creationId xmlns:a16="http://schemas.microsoft.com/office/drawing/2014/main" id="{34DF078C-FF36-4A5E-BA23-8A1ABC34903D}"/>
              </a:ext>
            </a:extLst>
          </p:cNvPr>
          <p:cNvSpPr>
            <a:spLocks xmlns:a="http://schemas.openxmlformats.org/drawingml/2006/main" noGrp="1"/>
          </p:cNvSpPr>
          <p:nvPr/>
        </p:nvSpPr>
        <p:spPr>
          <a:xfrm xmlns:a="http://schemas.openxmlformats.org/drawingml/2006/main">
            <a:off x="4714875" y="2619375"/>
            <a:ext cx="2762250" cy="1428750"/>
          </a:xfrm>
          <a:prstGeom xmlns:a="http://schemas.openxmlformats.org/drawingml/2006/main" prst="roundRect">
            <a:avLst>
              <a:gd name="adj" fmla="val 12000"/>
            </a:avLst>
          </a:prstGeom>
          <a:solidFill xmlns:a="http://schemas.openxmlformats.org/drawingml/2006/main">
            <a:srgbClr val="0B3026"/>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FAF866CF-B93A-4A1C-BCBE-6B7E22D89BA6}"/>
              </a:ext>
            </a:extLst>
          </p:cNvPr>
          <p:cNvSpPr>
            <a:spLocks xmlns:a="http://schemas.openxmlformats.org/drawingml/2006/main" noGrp="1"/>
          </p:cNvSpPr>
          <p:nvPr/>
        </p:nvSpPr>
        <p:spPr>
          <a:xfrm xmlns:a="http://schemas.openxmlformats.org/drawingml/2006/main">
            <a:off x="4867275" y="2790825"/>
            <a:ext cx="2457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E-biessa</a:t>
            </a:r>
          </a:p>
        </p:txBody>
      </p:sp>
      <p:sp>
        <p:nvSpPr>
          <p:cNvPr id="6" name="">
            <a:extLst xmlns:a="http://schemas.openxmlformats.org/drawingml/2006/main">
              <a:ext uri="{FF2B5EF4-FFF2-40B4-BE49-F238E27FC236}">
                <a16:creationId xmlns:a16="http://schemas.microsoft.com/office/drawing/2014/main" id="{8CF093EE-BA99-4F4A-AD06-6342F802A7DF}"/>
              </a:ext>
            </a:extLst>
          </p:cNvPr>
          <p:cNvSpPr>
            <a:spLocks xmlns:a="http://schemas.openxmlformats.org/drawingml/2006/main" noGrp="1"/>
          </p:cNvSpPr>
          <p:nvPr/>
        </p:nvSpPr>
        <p:spPr>
          <a:xfrm xmlns:a="http://schemas.openxmlformats.org/drawingml/2006/main">
            <a:off x="4867275" y="3171825"/>
            <a:ext cx="2457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Catalogue, confiance et mise en relation</a:t>
            </a:r>
          </a:p>
        </p:txBody>
      </p:sp>
      <p:sp>
        <p:nvSpPr>
          <p:cNvPr id="7" name="">
            <a:extLst xmlns:a="http://schemas.openxmlformats.org/drawingml/2006/main">
              <a:ext uri="{FF2B5EF4-FFF2-40B4-BE49-F238E27FC236}">
                <a16:creationId xmlns:a16="http://schemas.microsoft.com/office/drawing/2014/main" id="{6CDE8DDA-85DC-4B28-9AF3-F59A6F2BE959}"/>
              </a:ext>
            </a:extLst>
          </p:cNvPr>
          <p:cNvSpPr>
            <a:spLocks xmlns:a="http://schemas.openxmlformats.org/drawingml/2006/main" noGrp="1"/>
          </p:cNvSpPr>
          <p:nvPr/>
        </p:nvSpPr>
        <p:spPr>
          <a:xfrm xmlns:a="http://schemas.openxmlformats.org/drawingml/2006/main">
            <a:off x="666750" y="1571625"/>
            <a:ext cx="2905125" cy="1762125"/>
          </a:xfrm>
          <a:prstGeom xmlns:a="http://schemas.openxmlformats.org/drawingml/2006/main" prst="roundRect">
            <a:avLst>
              <a:gd name="adj" fmla="val 973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A956A734-3D4D-40B2-80E9-983D469337CC}"/>
              </a:ext>
            </a:extLst>
          </p:cNvPr>
          <p:cNvSpPr>
            <a:spLocks xmlns:a="http://schemas.openxmlformats.org/drawingml/2006/main" noGrp="1"/>
          </p:cNvSpPr>
          <p:nvPr/>
        </p:nvSpPr>
        <p:spPr>
          <a:xfrm xmlns:a="http://schemas.openxmlformats.org/drawingml/2006/main">
            <a:off x="819150" y="1743075"/>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Acheteur</a:t>
            </a:r>
          </a:p>
        </p:txBody>
      </p:sp>
      <p:sp>
        <p:nvSpPr>
          <p:cNvPr id="9" name="">
            <a:extLst xmlns:a="http://schemas.openxmlformats.org/drawingml/2006/main">
              <a:ext uri="{FF2B5EF4-FFF2-40B4-BE49-F238E27FC236}">
                <a16:creationId xmlns:a16="http://schemas.microsoft.com/office/drawing/2014/main" id="{76DD1DE0-C113-462D-BA40-5EAD32E97FC7}"/>
              </a:ext>
            </a:extLst>
          </p:cNvPr>
          <p:cNvSpPr>
            <a:spLocks xmlns:a="http://schemas.openxmlformats.org/drawingml/2006/main" noGrp="1"/>
          </p:cNvSpPr>
          <p:nvPr/>
        </p:nvSpPr>
        <p:spPr>
          <a:xfrm xmlns:a="http://schemas.openxmlformats.org/drawingml/2006/main">
            <a:off x="819150" y="2124075"/>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Recherche, filtres, favoris, recommandations, contact et avis</a:t>
            </a:r>
          </a:p>
        </p:txBody>
      </p:sp>
      <p:sp>
        <p:nvSpPr>
          <p:cNvPr id="10" name="">
            <a:extLst xmlns:a="http://schemas.openxmlformats.org/drawingml/2006/main">
              <a:ext uri="{FF2B5EF4-FFF2-40B4-BE49-F238E27FC236}">
                <a16:creationId xmlns:a16="http://schemas.microsoft.com/office/drawing/2014/main" id="{4BDB8230-1EC3-4F60-9F95-8F3F9F7A137C}"/>
              </a:ext>
            </a:extLst>
          </p:cNvPr>
          <p:cNvSpPr>
            <a:spLocks xmlns:a="http://schemas.openxmlformats.org/drawingml/2006/main" noGrp="1"/>
          </p:cNvSpPr>
          <p:nvPr/>
        </p:nvSpPr>
        <p:spPr>
          <a:xfrm xmlns:a="http://schemas.openxmlformats.org/drawingml/2006/main">
            <a:off x="666750" y="4095750"/>
            <a:ext cx="2905125" cy="1762125"/>
          </a:xfrm>
          <a:prstGeom xmlns:a="http://schemas.openxmlformats.org/drawingml/2006/main" prst="roundRect">
            <a:avLst>
              <a:gd name="adj" fmla="val 973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94BAAA3-851C-4EEE-B777-440A7BAB1AAF}"/>
              </a:ext>
            </a:extLst>
          </p:cNvPr>
          <p:cNvSpPr>
            <a:spLocks xmlns:a="http://schemas.openxmlformats.org/drawingml/2006/main" noGrp="1"/>
          </p:cNvSpPr>
          <p:nvPr/>
        </p:nvSpPr>
        <p:spPr>
          <a:xfrm xmlns:a="http://schemas.openxmlformats.org/drawingml/2006/main">
            <a:off x="819150" y="4267200"/>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Vendeur</a:t>
            </a:r>
          </a:p>
        </p:txBody>
      </p:sp>
      <p:sp>
        <p:nvSpPr>
          <p:cNvPr id="12" name="">
            <a:extLst xmlns:a="http://schemas.openxmlformats.org/drawingml/2006/main">
              <a:ext uri="{FF2B5EF4-FFF2-40B4-BE49-F238E27FC236}">
                <a16:creationId xmlns:a16="http://schemas.microsoft.com/office/drawing/2014/main" id="{D372C612-A94A-4F75-AFD2-FE3811B2182F}"/>
              </a:ext>
            </a:extLst>
          </p:cNvPr>
          <p:cNvSpPr>
            <a:spLocks xmlns:a="http://schemas.openxmlformats.org/drawingml/2006/main" noGrp="1"/>
          </p:cNvSpPr>
          <p:nvPr/>
        </p:nvSpPr>
        <p:spPr>
          <a:xfrm xmlns:a="http://schemas.openxmlformats.org/drawingml/2006/main">
            <a:off x="819150" y="4648200"/>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Profil professionnel, annonces, images, prix et messagerie</a:t>
            </a:r>
          </a:p>
        </p:txBody>
      </p:sp>
      <p:sp>
        <p:nvSpPr>
          <p:cNvPr id="13" name="">
            <a:extLst xmlns:a="http://schemas.openxmlformats.org/drawingml/2006/main">
              <a:ext uri="{FF2B5EF4-FFF2-40B4-BE49-F238E27FC236}">
                <a16:creationId xmlns:a16="http://schemas.microsoft.com/office/drawing/2014/main" id="{D83C86E9-8A28-4A7A-8295-E7BD2A0EB360}"/>
              </a:ext>
            </a:extLst>
          </p:cNvPr>
          <p:cNvSpPr>
            <a:spLocks xmlns:a="http://schemas.openxmlformats.org/drawingml/2006/main" noGrp="1"/>
          </p:cNvSpPr>
          <p:nvPr/>
        </p:nvSpPr>
        <p:spPr>
          <a:xfrm xmlns:a="http://schemas.openxmlformats.org/drawingml/2006/main">
            <a:off x="8620125" y="2809875"/>
            <a:ext cx="2905125" cy="1762125"/>
          </a:xfrm>
          <a:prstGeom xmlns:a="http://schemas.openxmlformats.org/drawingml/2006/main" prst="roundRect">
            <a:avLst>
              <a:gd name="adj" fmla="val 9730"/>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C1FD47C9-07D2-4E1A-9030-C45F1FB687E9}"/>
              </a:ext>
            </a:extLst>
          </p:cNvPr>
          <p:cNvSpPr>
            <a:spLocks xmlns:a="http://schemas.openxmlformats.org/drawingml/2006/main" noGrp="1"/>
          </p:cNvSpPr>
          <p:nvPr/>
        </p:nvSpPr>
        <p:spPr>
          <a:xfrm xmlns:a="http://schemas.openxmlformats.org/drawingml/2006/main">
            <a:off x="8772525" y="2981325"/>
            <a:ext cx="2600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Administrateur</a:t>
            </a:r>
          </a:p>
        </p:txBody>
      </p:sp>
      <p:sp>
        <p:nvSpPr>
          <p:cNvPr id="15" name="">
            <a:extLst xmlns:a="http://schemas.openxmlformats.org/drawingml/2006/main">
              <a:ext uri="{FF2B5EF4-FFF2-40B4-BE49-F238E27FC236}">
                <a16:creationId xmlns:a16="http://schemas.microsoft.com/office/drawing/2014/main" id="{C6ACF4FA-5759-4E13-8C58-4C62FEACE20C}"/>
              </a:ext>
            </a:extLst>
          </p:cNvPr>
          <p:cNvSpPr>
            <a:spLocks xmlns:a="http://schemas.openxmlformats.org/drawingml/2006/main" noGrp="1"/>
          </p:cNvSpPr>
          <p:nvPr/>
        </p:nvSpPr>
        <p:spPr>
          <a:xfrm xmlns:a="http://schemas.openxmlformats.org/drawingml/2006/main">
            <a:off x="8772525" y="3362325"/>
            <a:ext cx="26003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Validation des vendeurs, modération, suspension et audit</a:t>
            </a:r>
          </a:p>
        </p:txBody>
      </p:sp>
      <p:sp>
        <p:nvSpPr>
          <p:cNvPr id="19" name="">
            <a:extLst xmlns:a="http://schemas.openxmlformats.org/drawingml/2006/main">
              <a:ext uri="{FF2B5EF4-FFF2-40B4-BE49-F238E27FC236}">
                <a16:creationId xmlns:a16="http://schemas.microsoft.com/office/drawing/2014/main" id="{78967872-6920-42D4-8C78-C09C6EEBD899}"/>
              </a:ext>
            </a:extLst>
          </p:cNvPr>
          <p:cNvSpPr>
            <a:spLocks xmlns:a="http://schemas.openxmlformats.org/drawingml/2006/main" noGrp="1"/>
          </p:cNvSpPr>
          <p:nvPr/>
        </p:nvSpPr>
        <p:spPr>
          <a:xfrm xmlns:a="http://schemas.openxmlformats.org/drawingml/2006/main">
            <a:off x="8048625" y="5381625"/>
            <a:ext cx="347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i="1">
                <a:solidFill>
                  <a:srgbClr val="52645D"/>
                </a:solidFill>
                <a:latin typeface="Arial"/>
                <a:ea typeface="Arial"/>
                <a:cs typeface="Arial"/>
              </a:defRPr>
            </a:pPr>
            <a:r>
              <a:rPr sz="1200" b="0" i="1">
                <a:solidFill>
                  <a:srgbClr val="52645D"/>
                </a:solidFill>
                <a:latin typeface="Arial"/>
                <a:ea typeface="Arial"/>
                <a:cs typeface="Arial"/>
              </a:rPr>
              <a:t>Hors périmètre : paiement et commande en ligne</a:t>
            </a:r>
          </a:p>
        </p:txBody>
      </p:sp>
      <p:sp>
        <p:nvSpPr>
          <p:cNvPr id="20" name="">
            <a:extLst xmlns:a="http://schemas.openxmlformats.org/drawingml/2006/main">
              <a:ext uri="{FF2B5EF4-FFF2-40B4-BE49-F238E27FC236}">
                <a16:creationId xmlns:a16="http://schemas.microsoft.com/office/drawing/2014/main" id="{3DCEBF63-B41B-4EAC-943D-1E5026B51F61}"/>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1" name="">
            <a:extLst xmlns:a="http://schemas.openxmlformats.org/drawingml/2006/main">
              <a:ext uri="{FF2B5EF4-FFF2-40B4-BE49-F238E27FC236}">
                <a16:creationId xmlns:a16="http://schemas.microsoft.com/office/drawing/2014/main" id="{69B74D7F-2B1A-45C9-A3E6-A183A1E849BC}"/>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03</a:t>
            </a:r>
          </a:p>
        </p:txBody>
      </p:sp>
    </p:spTree>
    <p:extLst>
      <p:ext uri="{BB962C8B-B14F-4D97-AF65-F5344CB8AC3E}">
        <p14:creationId xmlns:p14="http://schemas.microsoft.com/office/powerpoint/2010/main" val="955227208"/>
      </p:ext>
    </p:extLst>
  </p:cSld>
</p:sld>
</file>

<file path=ppt/slides/slide4.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69FDDDA-E4CD-41C8-8736-E8EB4BD28870}"/>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73F2ED66-31E4-4B0B-BAFE-39E5995E5251}"/>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FF96DF6-B6DE-4D32-968F-84C4D3816385}"/>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Parcours acheteur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9a75caa71df4fed"/>
          <a:srcRect xmlns:a="http://schemas.openxmlformats.org/drawingml/2006/main" l="2000" t="1000" r="2000" b="5000"/>
          <a:stretch xmlns:a="http://schemas.openxmlformats.org/drawingml/2006/main"/>
        </p:blipFill>
        <p:spPr>
          <a:xfrm xmlns:a="http://schemas.openxmlformats.org/drawingml/2006/main">
            <a:off x="4857750" y="1066800"/>
            <a:ext cx="6667500" cy="4953000"/>
          </a:xfrm>
          <a:prstGeom xmlns:a="http://schemas.openxmlformats.org/drawingml/2006/main" prst="roundRect">
            <a:avLst>
              <a:gd name="adj" fmla="val 3462"/>
            </a:avLst>
          </a:prstGeom>
        </p:spPr>
      </p:pic>
      <p:sp>
        <p:nvSpPr>
          <p:cNvPr id="5" name="">
            <a:extLst xmlns:a="http://schemas.openxmlformats.org/drawingml/2006/main">
              <a:ext uri="{FF2B5EF4-FFF2-40B4-BE49-F238E27FC236}">
                <a16:creationId xmlns:a16="http://schemas.microsoft.com/office/drawing/2014/main" id="{0B8A8FCB-6B7B-45A8-B3DF-2560B822C3AB}"/>
              </a:ext>
            </a:extLst>
          </p:cNvPr>
          <p:cNvSpPr>
            <a:spLocks xmlns:a="http://schemas.openxmlformats.org/drawingml/2006/main" noGrp="1"/>
          </p:cNvSpPr>
          <p:nvPr/>
        </p:nvSpPr>
        <p:spPr>
          <a:xfrm xmlns:a="http://schemas.openxmlformats.org/drawingml/2006/main">
            <a:off x="666750" y="119062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92717BA-3AAD-4EFB-90F0-D9D162A925A7}"/>
              </a:ext>
            </a:extLst>
          </p:cNvPr>
          <p:cNvSpPr>
            <a:spLocks xmlns:a="http://schemas.openxmlformats.org/drawingml/2006/main" noGrp="1"/>
          </p:cNvSpPr>
          <p:nvPr/>
        </p:nvSpPr>
        <p:spPr>
          <a:xfrm xmlns:a="http://schemas.openxmlformats.org/drawingml/2006/main">
            <a:off x="1285875" y="117157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Décrire le besoin</a:t>
            </a:r>
          </a:p>
        </p:txBody>
      </p:sp>
      <p:sp>
        <p:nvSpPr>
          <p:cNvPr id="7" name="">
            <a:extLst xmlns:a="http://schemas.openxmlformats.org/drawingml/2006/main">
              <a:ext uri="{FF2B5EF4-FFF2-40B4-BE49-F238E27FC236}">
                <a16:creationId xmlns:a16="http://schemas.microsoft.com/office/drawing/2014/main" id="{59037AD4-0982-4527-A52B-24172D71FC71}"/>
              </a:ext>
            </a:extLst>
          </p:cNvPr>
          <p:cNvSpPr>
            <a:spLocks xmlns:a="http://schemas.openxmlformats.org/drawingml/2006/main" noGrp="1"/>
          </p:cNvSpPr>
          <p:nvPr/>
        </p:nvSpPr>
        <p:spPr>
          <a:xfrm xmlns:a="http://schemas.openxmlformats.org/drawingml/2006/main">
            <a:off x="1285875" y="153352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Mot-clé, filtre, voix ou photo</a:t>
            </a:r>
          </a:p>
        </p:txBody>
      </p:sp>
      <p:sp>
        <p:nvSpPr>
          <p:cNvPr id="8" name="">
            <a:extLst xmlns:a="http://schemas.openxmlformats.org/drawingml/2006/main">
              <a:ext uri="{FF2B5EF4-FFF2-40B4-BE49-F238E27FC236}">
                <a16:creationId xmlns:a16="http://schemas.microsoft.com/office/drawing/2014/main" id="{EE034E76-647A-41A9-BD8A-37BE7608DB1E}"/>
              </a:ext>
            </a:extLst>
          </p:cNvPr>
          <p:cNvSpPr>
            <a:spLocks xmlns:a="http://schemas.openxmlformats.org/drawingml/2006/main" noGrp="1"/>
          </p:cNvSpPr>
          <p:nvPr/>
        </p:nvSpPr>
        <p:spPr>
          <a:xfrm xmlns:a="http://schemas.openxmlformats.org/drawingml/2006/main">
            <a:off x="666750" y="23812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F95BB88-B236-4350-BE6B-985AD354B0CE}"/>
              </a:ext>
            </a:extLst>
          </p:cNvPr>
          <p:cNvSpPr>
            <a:spLocks xmlns:a="http://schemas.openxmlformats.org/drawingml/2006/main" noGrp="1"/>
          </p:cNvSpPr>
          <p:nvPr/>
        </p:nvSpPr>
        <p:spPr>
          <a:xfrm xmlns:a="http://schemas.openxmlformats.org/drawingml/2006/main">
            <a:off x="1285875" y="236220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Vérifier la compatibilité</a:t>
            </a:r>
          </a:p>
        </p:txBody>
      </p:sp>
      <p:sp>
        <p:nvSpPr>
          <p:cNvPr id="10" name="">
            <a:extLst xmlns:a="http://schemas.openxmlformats.org/drawingml/2006/main">
              <a:ext uri="{FF2B5EF4-FFF2-40B4-BE49-F238E27FC236}">
                <a16:creationId xmlns:a16="http://schemas.microsoft.com/office/drawing/2014/main" id="{114B8A97-0627-4703-86FC-898A7CB21471}"/>
              </a:ext>
            </a:extLst>
          </p:cNvPr>
          <p:cNvSpPr>
            <a:spLocks xmlns:a="http://schemas.openxmlformats.org/drawingml/2006/main" noGrp="1"/>
          </p:cNvSpPr>
          <p:nvPr/>
        </p:nvSpPr>
        <p:spPr>
          <a:xfrm xmlns:a="http://schemas.openxmlformats.org/drawingml/2006/main">
            <a:off x="1285875" y="272415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Véhicules, moteur, carburant, position et OEM</a:t>
            </a:r>
          </a:p>
        </p:txBody>
      </p:sp>
      <p:sp>
        <p:nvSpPr>
          <p:cNvPr id="11" name="">
            <a:extLst xmlns:a="http://schemas.openxmlformats.org/drawingml/2006/main">
              <a:ext uri="{FF2B5EF4-FFF2-40B4-BE49-F238E27FC236}">
                <a16:creationId xmlns:a16="http://schemas.microsoft.com/office/drawing/2014/main" id="{450C9567-FD0D-4938-902E-2418D725CD04}"/>
              </a:ext>
            </a:extLst>
          </p:cNvPr>
          <p:cNvSpPr>
            <a:spLocks xmlns:a="http://schemas.openxmlformats.org/drawingml/2006/main" noGrp="1"/>
          </p:cNvSpPr>
          <p:nvPr/>
        </p:nvSpPr>
        <p:spPr>
          <a:xfrm xmlns:a="http://schemas.openxmlformats.org/drawingml/2006/main">
            <a:off x="666750" y="35718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3B5F0443-BBF3-451E-8F08-8775F1139B17}"/>
              </a:ext>
            </a:extLst>
          </p:cNvPr>
          <p:cNvSpPr>
            <a:spLocks xmlns:a="http://schemas.openxmlformats.org/drawingml/2006/main" noGrp="1"/>
          </p:cNvSpPr>
          <p:nvPr/>
        </p:nvSpPr>
        <p:spPr>
          <a:xfrm xmlns:a="http://schemas.openxmlformats.org/drawingml/2006/main">
            <a:off x="1285875" y="3552825"/>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Contacter le vendeur</a:t>
            </a:r>
          </a:p>
        </p:txBody>
      </p:sp>
      <p:sp>
        <p:nvSpPr>
          <p:cNvPr id="13" name="">
            <a:extLst xmlns:a="http://schemas.openxmlformats.org/drawingml/2006/main">
              <a:ext uri="{FF2B5EF4-FFF2-40B4-BE49-F238E27FC236}">
                <a16:creationId xmlns:a16="http://schemas.microsoft.com/office/drawing/2014/main" id="{0B7E16AC-7CC6-4A37-B24B-834DECAD4D5D}"/>
              </a:ext>
            </a:extLst>
          </p:cNvPr>
          <p:cNvSpPr>
            <a:spLocks xmlns:a="http://schemas.openxmlformats.org/drawingml/2006/main" noGrp="1"/>
          </p:cNvSpPr>
          <p:nvPr/>
        </p:nvSpPr>
        <p:spPr>
          <a:xfrm xmlns:a="http://schemas.openxmlformats.org/drawingml/2006/main">
            <a:off x="1285875" y="3914775"/>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Téléphone, WhatsApp, e-mail ou messagerie privée</a:t>
            </a:r>
          </a:p>
        </p:txBody>
      </p:sp>
      <p:sp>
        <p:nvSpPr>
          <p:cNvPr id="14" name="">
            <a:extLst xmlns:a="http://schemas.openxmlformats.org/drawingml/2006/main">
              <a:ext uri="{FF2B5EF4-FFF2-40B4-BE49-F238E27FC236}">
                <a16:creationId xmlns:a16="http://schemas.microsoft.com/office/drawing/2014/main" id="{30C7E105-EA77-48E7-AD6D-51FBE71914E0}"/>
              </a:ext>
            </a:extLst>
          </p:cNvPr>
          <p:cNvSpPr>
            <a:spLocks xmlns:a="http://schemas.openxmlformats.org/drawingml/2006/main" noGrp="1"/>
          </p:cNvSpPr>
          <p:nvPr/>
        </p:nvSpPr>
        <p:spPr>
          <a:xfrm xmlns:a="http://schemas.openxmlformats.org/drawingml/2006/main">
            <a:off x="666750" y="47625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5650EC07-A04E-4B54-9E5A-1FEEF61B38FF}"/>
              </a:ext>
            </a:extLst>
          </p:cNvPr>
          <p:cNvSpPr>
            <a:spLocks xmlns:a="http://schemas.openxmlformats.org/drawingml/2006/main" noGrp="1"/>
          </p:cNvSpPr>
          <p:nvPr/>
        </p:nvSpPr>
        <p:spPr>
          <a:xfrm xmlns:a="http://schemas.openxmlformats.org/drawingml/2006/main">
            <a:off x="1285875" y="4743450"/>
            <a:ext cx="304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Évaluer l’échange</a:t>
            </a:r>
          </a:p>
        </p:txBody>
      </p:sp>
      <p:sp>
        <p:nvSpPr>
          <p:cNvPr id="16" name="">
            <a:extLst xmlns:a="http://schemas.openxmlformats.org/drawingml/2006/main">
              <a:ext uri="{FF2B5EF4-FFF2-40B4-BE49-F238E27FC236}">
                <a16:creationId xmlns:a16="http://schemas.microsoft.com/office/drawing/2014/main" id="{E84CD93C-2BE5-40B8-9759-66D8712368E4}"/>
              </a:ext>
            </a:extLst>
          </p:cNvPr>
          <p:cNvSpPr>
            <a:spLocks xmlns:a="http://schemas.openxmlformats.org/drawingml/2006/main" noGrp="1"/>
          </p:cNvSpPr>
          <p:nvPr/>
        </p:nvSpPr>
        <p:spPr>
          <a:xfrm xmlns:a="http://schemas.openxmlformats.org/drawingml/2006/main">
            <a:off x="1285875" y="5105400"/>
            <a:ext cx="314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i="0">
                <a:solidFill>
                  <a:srgbClr val="52645D"/>
                </a:solidFill>
                <a:latin typeface="Arial"/>
                <a:ea typeface="Arial"/>
                <a:cs typeface="Arial"/>
              </a:defRPr>
            </a:pPr>
            <a:r>
              <a:rPr sz="1200" b="0" i="0">
                <a:solidFill>
                  <a:srgbClr val="52645D"/>
                </a:solidFill>
                <a:latin typeface="Arial"/>
                <a:ea typeface="Arial"/>
                <a:cs typeface="Arial"/>
              </a:rPr>
              <a:t>Note de 1 à 5 et commentaire facultatif</a:t>
            </a:r>
          </a:p>
        </p:txBody>
      </p:sp>
      <p:sp>
        <p:nvSpPr>
          <p:cNvPr id="17" name="">
            <a:extLst xmlns:a="http://schemas.openxmlformats.org/drawingml/2006/main">
              <a:ext uri="{FF2B5EF4-FFF2-40B4-BE49-F238E27FC236}">
                <a16:creationId xmlns:a16="http://schemas.microsoft.com/office/drawing/2014/main" id="{F0E9C2DF-8733-41EC-AA3D-A0FE5AC073B6}"/>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79BC3FCC-A99C-4B88-AACE-3FECC6409272}"/>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04</a:t>
            </a:r>
          </a:p>
        </p:txBody>
      </p:sp>
    </p:spTree>
    <p:extLst>
      <p:ext uri="{BB962C8B-B14F-4D97-AF65-F5344CB8AC3E}">
        <p14:creationId xmlns:p14="http://schemas.microsoft.com/office/powerpoint/2010/main" val="1961241722"/>
      </p:ext>
    </p:extLst>
  </p:cSld>
</p:sld>
</file>

<file path=ppt/slides/slide5.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FDE0AF-63ED-4A8D-A5B8-7DCCDCB40315}"/>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703C38A7-2DB1-47BF-929B-6BA57BB1B8D2}"/>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C61A24-11C3-4095-9CD3-DE7F66364C3E}"/>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Vente et communication</a:t>
            </a:r>
          </a:p>
        </p:txBody>
      </p:sp>
      <p:sp>
        <p:nvSpPr>
          <p:cNvPr id="4" name="">
            <a:extLst xmlns:a="http://schemas.openxmlformats.org/drawingml/2006/main">
              <a:ext uri="{FF2B5EF4-FFF2-40B4-BE49-F238E27FC236}">
                <a16:creationId xmlns:a16="http://schemas.microsoft.com/office/drawing/2014/main" id="{4BBAC49E-0AC4-4967-8DDE-6EE806A03DED}"/>
              </a:ext>
            </a:extLst>
          </p:cNvPr>
          <p:cNvSpPr>
            <a:spLocks xmlns:a="http://schemas.openxmlformats.org/drawingml/2006/main" noGrp="1"/>
          </p:cNvSpPr>
          <p:nvPr/>
        </p:nvSpPr>
        <p:spPr>
          <a:xfrm xmlns:a="http://schemas.openxmlformats.org/drawingml/2006/main">
            <a:off x="666750" y="106680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Gestion complète des annonces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2e0599308924128"/>
          <a:srcRect xmlns:a="http://schemas.openxmlformats.org/drawingml/2006/main" l="2000" t="4000" r="2000" b="4000"/>
          <a:stretch xmlns:a="http://schemas.openxmlformats.org/drawingml/2006/main"/>
        </p:blipFill>
        <p:spPr>
          <a:xfrm xmlns:a="http://schemas.openxmlformats.org/drawingml/2006/main">
            <a:off x="666750" y="1476375"/>
            <a:ext cx="5286375" cy="3905250"/>
          </a:xfrm>
          <a:prstGeom xmlns:a="http://schemas.openxmlformats.org/drawingml/2006/main" prst="roundRect">
            <a:avLst>
              <a:gd name="adj" fmla="val 4390"/>
            </a:avLst>
          </a:prstGeom>
        </p:spPr>
      </p:pic>
      <p:sp>
        <p:nvSpPr>
          <p:cNvPr id="6" name="">
            <a:extLst xmlns:a="http://schemas.openxmlformats.org/drawingml/2006/main">
              <a:ext uri="{FF2B5EF4-FFF2-40B4-BE49-F238E27FC236}">
                <a16:creationId xmlns:a16="http://schemas.microsoft.com/office/drawing/2014/main" id="{36F3B0D9-AC2E-4EE2-8332-10EBF98BF884}"/>
              </a:ext>
            </a:extLst>
          </p:cNvPr>
          <p:cNvSpPr>
            <a:spLocks xmlns:a="http://schemas.openxmlformats.org/drawingml/2006/main" noGrp="1"/>
          </p:cNvSpPr>
          <p:nvPr/>
        </p:nvSpPr>
        <p:spPr>
          <a:xfrm xmlns:a="http://schemas.openxmlformats.org/drawingml/2006/main">
            <a:off x="6238875" y="1066800"/>
            <a:ext cx="528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Messagerie instantanée avec images</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1742d50f01940a0"/>
          <a:srcRect xmlns:a="http://schemas.openxmlformats.org/drawingml/2006/main" l="2000" t="5000" r="2000" b="4000"/>
          <a:stretch xmlns:a="http://schemas.openxmlformats.org/drawingml/2006/main"/>
        </p:blipFill>
        <p:spPr>
          <a:xfrm xmlns:a="http://schemas.openxmlformats.org/drawingml/2006/main">
            <a:off x="6238875" y="1476375"/>
            <a:ext cx="5286375" cy="3905250"/>
          </a:xfrm>
          <a:prstGeom xmlns:a="http://schemas.openxmlformats.org/drawingml/2006/main" prst="roundRect">
            <a:avLst>
              <a:gd name="adj" fmla="val 4390"/>
            </a:avLst>
          </a:prstGeom>
        </p:spPr>
      </p:pic>
      <p:sp>
        <p:nvSpPr>
          <p:cNvPr id="8" name="">
            <a:extLst xmlns:a="http://schemas.openxmlformats.org/drawingml/2006/main">
              <a:ext uri="{FF2B5EF4-FFF2-40B4-BE49-F238E27FC236}">
                <a16:creationId xmlns:a16="http://schemas.microsoft.com/office/drawing/2014/main" id="{DC5C8F6D-A2A0-40AB-A92E-679A35B05F6E}"/>
              </a:ext>
            </a:extLst>
          </p:cNvPr>
          <p:cNvSpPr>
            <a:spLocks xmlns:a="http://schemas.openxmlformats.org/drawingml/2006/main" noGrp="1"/>
          </p:cNvSpPr>
          <p:nvPr/>
        </p:nvSpPr>
        <p:spPr>
          <a:xfrm xmlns:a="http://schemas.openxmlformats.org/drawingml/2006/main">
            <a:off x="714375" y="56673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17231F"/>
                </a:solidFill>
                <a:latin typeface="Arial"/>
                <a:ea typeface="Arial"/>
                <a:cs typeface="Arial"/>
              </a:defRPr>
            </a:pPr>
            <a:r>
              <a:rPr sz="1275" b="0" i="0">
                <a:solidFill>
                  <a:srgbClr val="17231F"/>
                </a:solidFill>
                <a:latin typeface="Arial"/>
                <a:ea typeface="Arial"/>
                <a:cs typeface="Arial"/>
              </a:rPr>
              <a:t>Le vendeur publie, réordonne ses photos, choisit l’image principale et retire immédiatement une pièce vendue.</a:t>
            </a:r>
          </a:p>
        </p:txBody>
      </p:sp>
      <p:sp>
        <p:nvSpPr>
          <p:cNvPr id="9" name="">
            <a:extLst xmlns:a="http://schemas.openxmlformats.org/drawingml/2006/main">
              <a:ext uri="{FF2B5EF4-FFF2-40B4-BE49-F238E27FC236}">
                <a16:creationId xmlns:a16="http://schemas.microsoft.com/office/drawing/2014/main" id="{3CE3C182-3776-4DEE-ABAC-C33F42DD15C1}"/>
              </a:ext>
            </a:extLst>
          </p:cNvPr>
          <p:cNvSpPr>
            <a:spLocks xmlns:a="http://schemas.openxmlformats.org/drawingml/2006/main" noGrp="1"/>
          </p:cNvSpPr>
          <p:nvPr/>
        </p:nvSpPr>
        <p:spPr>
          <a:xfrm xmlns:a="http://schemas.openxmlformats.org/drawingml/2006/main">
            <a:off x="6286500" y="5667375"/>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17231F"/>
                </a:solidFill>
                <a:latin typeface="Arial"/>
                <a:ea typeface="Arial"/>
                <a:cs typeface="Arial"/>
              </a:defRPr>
            </a:pPr>
            <a:r>
              <a:rPr sz="1275" b="0" i="0">
                <a:solidFill>
                  <a:srgbClr val="17231F"/>
                </a:solidFill>
                <a:latin typeface="Arial"/>
                <a:ea typeface="Arial"/>
                <a:cs typeface="Arial"/>
              </a:rPr>
              <a:t>Les deux parties échangent en temps réel et peuvent partager des photos complémentaires dans une conversation privée.</a:t>
            </a:r>
          </a:p>
        </p:txBody>
      </p:sp>
      <p:sp>
        <p:nvSpPr>
          <p:cNvPr id="10" name="">
            <a:extLst xmlns:a="http://schemas.openxmlformats.org/drawingml/2006/main">
              <a:ext uri="{FF2B5EF4-FFF2-40B4-BE49-F238E27FC236}">
                <a16:creationId xmlns:a16="http://schemas.microsoft.com/office/drawing/2014/main" id="{FF4DCC94-5F5A-4368-AE23-F3F170AABC74}"/>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1" name="">
            <a:extLst xmlns:a="http://schemas.openxmlformats.org/drawingml/2006/main">
              <a:ext uri="{FF2B5EF4-FFF2-40B4-BE49-F238E27FC236}">
                <a16:creationId xmlns:a16="http://schemas.microsoft.com/office/drawing/2014/main" id="{D9EB025E-4D16-47C9-BBE1-404AB3EA1955}"/>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05</a:t>
            </a:r>
          </a:p>
        </p:txBody>
      </p:sp>
    </p:spTree>
    <p:extLst>
      <p:ext uri="{BB962C8B-B14F-4D97-AF65-F5344CB8AC3E}">
        <p14:creationId xmlns:p14="http://schemas.microsoft.com/office/powerpoint/2010/main" val="2130361700"/>
      </p:ext>
    </p:extLst>
  </p:cSld>
</p:sld>
</file>

<file path=ppt/slides/slide6.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4ED9ADF-46FF-48FE-A461-DDD34C721330}"/>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EB535EF5-3F1E-4873-B14D-40EFD8FDC094}"/>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5F4E404-39E3-487A-8D81-913E378FE4D5}"/>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Administration et confiance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cf4ad34ee7147c6"/>
          <a:srcRect xmlns:a="http://schemas.openxmlformats.org/drawingml/2006/main" l="1000" t="2000" r="2000" b="3000"/>
          <a:stretch xmlns:a="http://schemas.openxmlformats.org/drawingml/2006/main"/>
        </p:blipFill>
        <p:spPr>
          <a:xfrm xmlns:a="http://schemas.openxmlformats.org/drawingml/2006/main">
            <a:off x="666750" y="1095375"/>
            <a:ext cx="7810500" cy="4905375"/>
          </a:xfrm>
          <a:prstGeom xmlns:a="http://schemas.openxmlformats.org/drawingml/2006/main" prst="roundRect">
            <a:avLst>
              <a:gd name="adj" fmla="val 3495"/>
            </a:avLst>
          </a:prstGeom>
        </p:spPr>
      </p:pic>
      <p:sp>
        <p:nvSpPr>
          <p:cNvPr id="5" name="">
            <a:extLst xmlns:a="http://schemas.openxmlformats.org/drawingml/2006/main">
              <a:ext uri="{FF2B5EF4-FFF2-40B4-BE49-F238E27FC236}">
                <a16:creationId xmlns:a16="http://schemas.microsoft.com/office/drawing/2014/main" id="{55D6AA75-78C6-448E-96A9-883CD14ECD85}"/>
              </a:ext>
            </a:extLst>
          </p:cNvPr>
          <p:cNvSpPr>
            <a:spLocks xmlns:a="http://schemas.openxmlformats.org/drawingml/2006/main" noGrp="1"/>
          </p:cNvSpPr>
          <p:nvPr/>
        </p:nvSpPr>
        <p:spPr>
          <a:xfrm xmlns:a="http://schemas.openxmlformats.org/drawingml/2006/main">
            <a:off x="8858250" y="1190625"/>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Un tableau de bord séparé</a:t>
            </a:r>
          </a:p>
        </p:txBody>
      </p:sp>
      <p:sp>
        <p:nvSpPr>
          <p:cNvPr id="6" name="">
            <a:extLst xmlns:a="http://schemas.openxmlformats.org/drawingml/2006/main">
              <a:ext uri="{FF2B5EF4-FFF2-40B4-BE49-F238E27FC236}">
                <a16:creationId xmlns:a16="http://schemas.microsoft.com/office/drawing/2014/main" id="{146E73A4-FAA6-45C5-947A-E073FE9E2892}"/>
              </a:ext>
            </a:extLst>
          </p:cNvPr>
          <p:cNvSpPr>
            <a:spLocks xmlns:a="http://schemas.openxmlformats.org/drawingml/2006/main" noGrp="1"/>
          </p:cNvSpPr>
          <p:nvPr/>
        </p:nvSpPr>
        <p:spPr>
          <a:xfrm xmlns:a="http://schemas.openxmlformats.org/drawingml/2006/main">
            <a:off x="8810625" y="2143125"/>
            <a:ext cx="276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Examiner les demandes de passage vendeur.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Traiter les signalements d’annonces et de vendeurs.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Suspendre un compte et désactiver ses annonces.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Conserver un journal d’audit des actions sensibles.</a:t>
            </a:r>
          </a:p>
        </p:txBody>
      </p:sp>
      <p:sp>
        <p:nvSpPr>
          <p:cNvPr id="7" name="">
            <a:extLst xmlns:a="http://schemas.openxmlformats.org/drawingml/2006/main">
              <a:ext uri="{FF2B5EF4-FFF2-40B4-BE49-F238E27FC236}">
                <a16:creationId xmlns:a16="http://schemas.microsoft.com/office/drawing/2014/main" id="{5A9DEDAA-A190-42B4-83E7-F4648D788B01}"/>
              </a:ext>
            </a:extLst>
          </p:cNvPr>
          <p:cNvSpPr>
            <a:spLocks xmlns:a="http://schemas.openxmlformats.org/drawingml/2006/main" noGrp="1"/>
          </p:cNvSpPr>
          <p:nvPr/>
        </p:nvSpPr>
        <p:spPr>
          <a:xfrm xmlns:a="http://schemas.openxmlformats.org/drawingml/2006/main">
            <a:off x="8905875" y="5286375"/>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i="0">
                <a:solidFill>
                  <a:srgbClr val="F45837"/>
                </a:solidFill>
                <a:latin typeface="Arial"/>
                <a:ea typeface="Arial"/>
                <a:cs typeface="Arial"/>
              </a:defRPr>
            </a:pPr>
            <a:r>
              <a:rPr sz="1350" b="1" i="0">
                <a:solidFill>
                  <a:srgbClr val="F45837"/>
                </a:solidFill>
                <a:latin typeface="Arial"/>
                <a:ea typeface="Arial"/>
                <a:cs typeface="Arial"/>
              </a:rPr>
              <a:t>La modération reste humaine</a:t>
            </a:r>
          </a:p>
        </p:txBody>
      </p:sp>
      <p:sp>
        <p:nvSpPr>
          <p:cNvPr id="8" name="">
            <a:extLst xmlns:a="http://schemas.openxmlformats.org/drawingml/2006/main">
              <a:ext uri="{FF2B5EF4-FFF2-40B4-BE49-F238E27FC236}">
                <a16:creationId xmlns:a16="http://schemas.microsoft.com/office/drawing/2014/main" id="{C4329A76-C50B-4F96-BBF0-9DEACB178ACB}"/>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9" name="">
            <a:extLst xmlns:a="http://schemas.openxmlformats.org/drawingml/2006/main">
              <a:ext uri="{FF2B5EF4-FFF2-40B4-BE49-F238E27FC236}">
                <a16:creationId xmlns:a16="http://schemas.microsoft.com/office/drawing/2014/main" id="{D729AF73-B947-413E-80F3-0A8EADC3707B}"/>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06</a:t>
            </a:r>
          </a:p>
        </p:txBody>
      </p:sp>
    </p:spTree>
    <p:extLst>
      <p:ext uri="{BB962C8B-B14F-4D97-AF65-F5344CB8AC3E}">
        <p14:creationId xmlns:p14="http://schemas.microsoft.com/office/powerpoint/2010/main" val="400369979"/>
      </p:ext>
    </p:extLst>
  </p:cSld>
</p:sld>
</file>

<file path=ppt/slides/slide7.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cxnSp>
        <p:nvCxnSpPr>
          <p:cNvPr id="33" name=""/>
          <p:cNvCxnSpPr>
            <a:stCxn xmlns:a="http://schemas.openxmlformats.org/drawingml/2006/main" id="16" idx="3"/>
            <a:endCxn xmlns:a="http://schemas.openxmlformats.org/drawingml/2006/main" id="22" idx="1"/>
          </p:cNvCxnSpPr>
          <p:nvPr/>
        </p:nvCxnSpPr>
        <p:spPr>
          <a:xfrm xmlns:a="http://schemas.openxmlformats.org/drawingml/2006/main">
            <a:off x="6762750" y="5072063"/>
            <a:ext cx="1333500"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4" name=""/>
          <p:cNvCxnSpPr>
            <a:stCxn xmlns:a="http://schemas.openxmlformats.org/drawingml/2006/main" id="16" idx="1"/>
            <a:endCxn xmlns:a="http://schemas.openxmlformats.org/drawingml/2006/main" id="19" idx="3"/>
          </p:cNvCxnSpPr>
          <p:nvPr/>
        </p:nvCxnSpPr>
        <p:spPr>
          <a:xfrm xmlns:a="http://schemas.openxmlformats.org/drawingml/2006/main" flipH="1">
            <a:off x="2905125" y="5072063"/>
            <a:ext cx="809625" cy="47625"/>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cxnSp>
        <p:nvCxnSpPr>
          <p:cNvPr id="35" name=""/>
          <p:cNvCxnSpPr>
            <a:stCxn xmlns:a="http://schemas.openxmlformats.org/drawingml/2006/main" id="7" idx="2"/>
            <a:endCxn xmlns:a="http://schemas.openxmlformats.org/drawingml/2006/main" id="16" idx="0"/>
          </p:cNvCxnSpPr>
          <p:nvPr/>
        </p:nvCxnSpPr>
        <p:spPr>
          <a:xfrm xmlns:a="http://schemas.openxmlformats.org/drawingml/2006/main">
            <a:off x="5238750" y="3286125"/>
            <a:ext cx="0" cy="104775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6" name=""/>
          <p:cNvCxnSpPr>
            <a:stCxn xmlns:a="http://schemas.openxmlformats.org/drawingml/2006/main" id="7" idx="3"/>
            <a:endCxn xmlns:a="http://schemas.openxmlformats.org/drawingml/2006/main" id="13" idx="1"/>
          </p:cNvCxnSpPr>
          <p:nvPr/>
        </p:nvCxnSpPr>
        <p:spPr>
          <a:xfrm xmlns:a="http://schemas.openxmlformats.org/drawingml/2006/main">
            <a:off x="6762750" y="2333625"/>
            <a:ext cx="1333500" cy="881063"/>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cxnSp>
        <p:nvCxnSpPr>
          <p:cNvPr id="37" name=""/>
          <p:cNvCxnSpPr>
            <a:stCxn xmlns:a="http://schemas.openxmlformats.org/drawingml/2006/main" id="7" idx="3"/>
            <a:endCxn xmlns:a="http://schemas.openxmlformats.org/drawingml/2006/main" id="10" idx="1"/>
          </p:cNvCxnSpPr>
          <p:nvPr/>
        </p:nvCxnSpPr>
        <p:spPr>
          <a:xfrm xmlns:a="http://schemas.openxmlformats.org/drawingml/2006/main" flipV="1">
            <a:off x="6762750" y="1690688"/>
            <a:ext cx="1333500" cy="642938"/>
          </a:xfrm>
          <a:prstGeom xmlns:a="http://schemas.openxmlformats.org/drawingml/2006/main" prst="bentConnector3">
            <a:avLst>
              <a:gd name="adj1" fmla="val 50000"/>
            </a:avLst>
          </a:prstGeom>
          <a:ln xmlns:a="http://schemas.openxmlformats.org/drawingml/2006/main" w="28575">
            <a:solidFill>
              <a:srgbClr val="F45837"/>
            </a:solidFill>
            <a:tailEnd type="triangle" w="sm" len="sm"/>
          </a:ln>
        </p:spPr>
      </p:cxn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905125" y="2333625"/>
            <a:ext cx="809625" cy="0"/>
          </a:xfrm>
          <a:prstGeom xmlns:a="http://schemas.openxmlformats.org/drawingml/2006/main" prst="straightConnector1">
            <a:avLst/>
          </a:prstGeom>
          <a:ln xmlns:a="http://schemas.openxmlformats.org/drawingml/2006/main" w="28575">
            <a:solidFill>
              <a:srgbClr val="F45837"/>
            </a:solidFill>
            <a:tailEnd type="triangle" w="sm" len="sm"/>
          </a:ln>
        </p:spPr>
      </p:cxnSp>
      <p:sp>
        <p:nvSpPr>
          <p:cNvPr id="39" name="">
            <a:extLst xmlns:a="http://schemas.openxmlformats.org/drawingml/2006/main">
              <a:ext uri="{FF2B5EF4-FFF2-40B4-BE49-F238E27FC236}">
                <a16:creationId xmlns:a16="http://schemas.microsoft.com/office/drawing/2014/main" id="{2DBFE5DB-3F0F-4154-81B1-08014F711D9F}"/>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11D57542-3502-45FB-8058-40CAD876C1EB}"/>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87B6EE-CF22-43AA-898C-2EC3A956CD87}"/>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Architecture de la solution</a:t>
            </a:r>
          </a:p>
        </p:txBody>
      </p:sp>
      <p:sp>
        <p:nvSpPr>
          <p:cNvPr id="4" name="">
            <a:extLst xmlns:a="http://schemas.openxmlformats.org/drawingml/2006/main">
              <a:ext uri="{FF2B5EF4-FFF2-40B4-BE49-F238E27FC236}">
                <a16:creationId xmlns:a16="http://schemas.microsoft.com/office/drawing/2014/main" id="{D4E3671B-4ADB-4C57-9E78-995D000593A9}"/>
              </a:ext>
            </a:extLst>
          </p:cNvPr>
          <p:cNvSpPr>
            <a:spLocks xmlns:a="http://schemas.openxmlformats.org/drawingml/2006/main" noGrp="1"/>
          </p:cNvSpPr>
          <p:nvPr/>
        </p:nvSpPr>
        <p:spPr>
          <a:xfrm xmlns:a="http://schemas.openxmlformats.org/drawingml/2006/main">
            <a:off x="666750" y="1619250"/>
            <a:ext cx="2238375" cy="1428750"/>
          </a:xfrm>
          <a:prstGeom xmlns:a="http://schemas.openxmlformats.org/drawingml/2006/main" prst="roundRect">
            <a:avLst>
              <a:gd name="adj" fmla="val 12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BE189E4-7E83-4E7C-B996-691926F3EC03}"/>
              </a:ext>
            </a:extLst>
          </p:cNvPr>
          <p:cNvSpPr>
            <a:spLocks xmlns:a="http://schemas.openxmlformats.org/drawingml/2006/main" noGrp="1"/>
          </p:cNvSpPr>
          <p:nvPr/>
        </p:nvSpPr>
        <p:spPr>
          <a:xfrm xmlns:a="http://schemas.openxmlformats.org/drawingml/2006/main">
            <a:off x="819150" y="1790700"/>
            <a:ext cx="1933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Angular 21</a:t>
            </a:r>
          </a:p>
        </p:txBody>
      </p:sp>
      <p:sp>
        <p:nvSpPr>
          <p:cNvPr id="6" name="">
            <a:extLst xmlns:a="http://schemas.openxmlformats.org/drawingml/2006/main">
              <a:ext uri="{FF2B5EF4-FFF2-40B4-BE49-F238E27FC236}">
                <a16:creationId xmlns:a16="http://schemas.microsoft.com/office/drawing/2014/main" id="{3091A86E-0533-45BC-85A4-DE18FC1DAF49}"/>
              </a:ext>
            </a:extLst>
          </p:cNvPr>
          <p:cNvSpPr>
            <a:spLocks xmlns:a="http://schemas.openxmlformats.org/drawingml/2006/main" noGrp="1"/>
          </p:cNvSpPr>
          <p:nvPr/>
        </p:nvSpPr>
        <p:spPr>
          <a:xfrm xmlns:a="http://schemas.openxmlformats.org/drawingml/2006/main">
            <a:off x="819150" y="2171700"/>
            <a:ext cx="1933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Interface responsive</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Acheteur · Vendeur · Admin</a:t>
            </a:r>
          </a:p>
        </p:txBody>
      </p:sp>
      <p:sp>
        <p:nvSpPr>
          <p:cNvPr id="7" name="">
            <a:extLst xmlns:a="http://schemas.openxmlformats.org/drawingml/2006/main">
              <a:ext uri="{FF2B5EF4-FFF2-40B4-BE49-F238E27FC236}">
                <a16:creationId xmlns:a16="http://schemas.microsoft.com/office/drawing/2014/main" id="{F74131E7-E294-48E7-9C08-D7F47144965F}"/>
              </a:ext>
            </a:extLst>
          </p:cNvPr>
          <p:cNvSpPr>
            <a:spLocks xmlns:a="http://schemas.openxmlformats.org/drawingml/2006/main" noGrp="1"/>
          </p:cNvSpPr>
          <p:nvPr/>
        </p:nvSpPr>
        <p:spPr>
          <a:xfrm xmlns:a="http://schemas.openxmlformats.org/drawingml/2006/main">
            <a:off x="3714750" y="1381125"/>
            <a:ext cx="3048000" cy="1905000"/>
          </a:xfrm>
          <a:prstGeom xmlns:a="http://schemas.openxmlformats.org/drawingml/2006/main" prst="roundRect">
            <a:avLst>
              <a:gd name="adj" fmla="val 9000"/>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F45A3B78-79C2-4B45-AD80-360461775877}"/>
              </a:ext>
            </a:extLst>
          </p:cNvPr>
          <p:cNvSpPr>
            <a:spLocks xmlns:a="http://schemas.openxmlformats.org/drawingml/2006/main" noGrp="1"/>
          </p:cNvSpPr>
          <p:nvPr/>
        </p:nvSpPr>
        <p:spPr>
          <a:xfrm xmlns:a="http://schemas.openxmlformats.org/drawingml/2006/main">
            <a:off x="3867150" y="1552575"/>
            <a:ext cx="274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Spring Boot</a:t>
            </a:r>
          </a:p>
        </p:txBody>
      </p:sp>
      <p:sp>
        <p:nvSpPr>
          <p:cNvPr id="9" name="">
            <a:extLst xmlns:a="http://schemas.openxmlformats.org/drawingml/2006/main">
              <a:ext uri="{FF2B5EF4-FFF2-40B4-BE49-F238E27FC236}">
                <a16:creationId xmlns:a16="http://schemas.microsoft.com/office/drawing/2014/main" id="{AD34CE81-D909-454C-B104-6E79A23544C8}"/>
              </a:ext>
            </a:extLst>
          </p:cNvPr>
          <p:cNvSpPr>
            <a:spLocks xmlns:a="http://schemas.openxmlformats.org/drawingml/2006/main" noGrp="1"/>
          </p:cNvSpPr>
          <p:nvPr/>
        </p:nvSpPr>
        <p:spPr>
          <a:xfrm xmlns:a="http://schemas.openxmlformats.org/drawingml/2006/main">
            <a:off x="3867150" y="1933575"/>
            <a:ext cx="2743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JWT, OAuth2, REST, WebSocket</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Règles métier et autorisation</a:t>
            </a:r>
          </a:p>
        </p:txBody>
      </p:sp>
      <p:sp>
        <p:nvSpPr>
          <p:cNvPr id="10" name="">
            <a:extLst xmlns:a="http://schemas.openxmlformats.org/drawingml/2006/main">
              <a:ext uri="{FF2B5EF4-FFF2-40B4-BE49-F238E27FC236}">
                <a16:creationId xmlns:a16="http://schemas.microsoft.com/office/drawing/2014/main" id="{F09593C7-6083-4686-9AB1-8EA07C53D75D}"/>
              </a:ext>
            </a:extLst>
          </p:cNvPr>
          <p:cNvSpPr>
            <a:spLocks xmlns:a="http://schemas.openxmlformats.org/drawingml/2006/main" noGrp="1"/>
          </p:cNvSpPr>
          <p:nvPr/>
        </p:nvSpPr>
        <p:spPr>
          <a:xfrm xmlns:a="http://schemas.openxmlformats.org/drawingml/2006/main">
            <a:off x="8096250" y="1143000"/>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774D54A1-1C07-4882-853C-F7CC8BC8B263}"/>
              </a:ext>
            </a:extLst>
          </p:cNvPr>
          <p:cNvSpPr>
            <a:spLocks xmlns:a="http://schemas.openxmlformats.org/drawingml/2006/main" noGrp="1"/>
          </p:cNvSpPr>
          <p:nvPr/>
        </p:nvSpPr>
        <p:spPr>
          <a:xfrm xmlns:a="http://schemas.openxmlformats.org/drawingml/2006/main">
            <a:off x="8248650" y="131445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MySQL</a:t>
            </a:r>
          </a:p>
        </p:txBody>
      </p:sp>
      <p:sp>
        <p:nvSpPr>
          <p:cNvPr id="12" name="">
            <a:extLst xmlns:a="http://schemas.openxmlformats.org/drawingml/2006/main">
              <a:ext uri="{FF2B5EF4-FFF2-40B4-BE49-F238E27FC236}">
                <a16:creationId xmlns:a16="http://schemas.microsoft.com/office/drawing/2014/main" id="{044A9352-F74B-4089-B700-4F00A64C828D}"/>
              </a:ext>
            </a:extLst>
          </p:cNvPr>
          <p:cNvSpPr>
            <a:spLocks xmlns:a="http://schemas.openxmlformats.org/drawingml/2006/main" noGrp="1"/>
          </p:cNvSpPr>
          <p:nvPr/>
        </p:nvSpPr>
        <p:spPr>
          <a:xfrm xmlns:a="http://schemas.openxmlformats.org/drawingml/2006/main">
            <a:off x="8248650" y="1695450"/>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Source transactionnelle</a:t>
            </a:r>
          </a:p>
        </p:txBody>
      </p:sp>
      <p:sp>
        <p:nvSpPr>
          <p:cNvPr id="13" name="">
            <a:extLst xmlns:a="http://schemas.openxmlformats.org/drawingml/2006/main">
              <a:ext uri="{FF2B5EF4-FFF2-40B4-BE49-F238E27FC236}">
                <a16:creationId xmlns:a16="http://schemas.microsoft.com/office/drawing/2014/main" id="{E658E22E-8599-4D67-8C14-25F5FEFAB36D}"/>
              </a:ext>
            </a:extLst>
          </p:cNvPr>
          <p:cNvSpPr>
            <a:spLocks xmlns:a="http://schemas.openxmlformats.org/drawingml/2006/main" noGrp="1"/>
          </p:cNvSpPr>
          <p:nvPr/>
        </p:nvSpPr>
        <p:spPr>
          <a:xfrm xmlns:a="http://schemas.openxmlformats.org/drawingml/2006/main">
            <a:off x="8096250" y="2667000"/>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BDE3BBE-8688-439E-8710-62EC4BBD54B4}"/>
              </a:ext>
            </a:extLst>
          </p:cNvPr>
          <p:cNvSpPr>
            <a:spLocks xmlns:a="http://schemas.openxmlformats.org/drawingml/2006/main" noGrp="1"/>
          </p:cNvSpPr>
          <p:nvPr/>
        </p:nvSpPr>
        <p:spPr>
          <a:xfrm xmlns:a="http://schemas.openxmlformats.org/drawingml/2006/main">
            <a:off x="8248650" y="2838450"/>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Images</a:t>
            </a:r>
          </a:p>
        </p:txBody>
      </p:sp>
      <p:sp>
        <p:nvSpPr>
          <p:cNvPr id="15" name="">
            <a:extLst xmlns:a="http://schemas.openxmlformats.org/drawingml/2006/main">
              <a:ext uri="{FF2B5EF4-FFF2-40B4-BE49-F238E27FC236}">
                <a16:creationId xmlns:a16="http://schemas.microsoft.com/office/drawing/2014/main" id="{EC2871EA-D10C-4C86-85BE-DAA5A689787C}"/>
              </a:ext>
            </a:extLst>
          </p:cNvPr>
          <p:cNvSpPr>
            <a:spLocks xmlns:a="http://schemas.openxmlformats.org/drawingml/2006/main" noGrp="1"/>
          </p:cNvSpPr>
          <p:nvPr/>
        </p:nvSpPr>
        <p:spPr>
          <a:xfrm xmlns:a="http://schemas.openxmlformats.org/drawingml/2006/main">
            <a:off x="8248650" y="3219450"/>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Stockage local ou Cloudinary</a:t>
            </a:r>
          </a:p>
        </p:txBody>
      </p:sp>
      <p:sp>
        <p:nvSpPr>
          <p:cNvPr id="16" name="">
            <a:extLst xmlns:a="http://schemas.openxmlformats.org/drawingml/2006/main">
              <a:ext uri="{FF2B5EF4-FFF2-40B4-BE49-F238E27FC236}">
                <a16:creationId xmlns:a16="http://schemas.microsoft.com/office/drawing/2014/main" id="{B4162AD3-9535-4237-BCC5-A944EF34B299}"/>
              </a:ext>
            </a:extLst>
          </p:cNvPr>
          <p:cNvSpPr>
            <a:spLocks xmlns:a="http://schemas.openxmlformats.org/drawingml/2006/main" noGrp="1"/>
          </p:cNvSpPr>
          <p:nvPr/>
        </p:nvSpPr>
        <p:spPr>
          <a:xfrm xmlns:a="http://schemas.openxmlformats.org/drawingml/2006/main">
            <a:off x="3714750" y="4333875"/>
            <a:ext cx="3048000" cy="1476375"/>
          </a:xfrm>
          <a:prstGeom xmlns:a="http://schemas.openxmlformats.org/drawingml/2006/main" prst="roundRect">
            <a:avLst>
              <a:gd name="adj" fmla="val 11613"/>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7D08CEF-5AB9-4E11-B3BB-156E8361FE46}"/>
              </a:ext>
            </a:extLst>
          </p:cNvPr>
          <p:cNvSpPr>
            <a:spLocks xmlns:a="http://schemas.openxmlformats.org/drawingml/2006/main" noGrp="1"/>
          </p:cNvSpPr>
          <p:nvPr/>
        </p:nvSpPr>
        <p:spPr>
          <a:xfrm xmlns:a="http://schemas.openxmlformats.org/drawingml/2006/main">
            <a:off x="3867150" y="4505325"/>
            <a:ext cx="2743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FastAPI</a:t>
            </a:r>
          </a:p>
        </p:txBody>
      </p:sp>
      <p:sp>
        <p:nvSpPr>
          <p:cNvPr id="18" name="">
            <a:extLst xmlns:a="http://schemas.openxmlformats.org/drawingml/2006/main">
              <a:ext uri="{FF2B5EF4-FFF2-40B4-BE49-F238E27FC236}">
                <a16:creationId xmlns:a16="http://schemas.microsoft.com/office/drawing/2014/main" id="{B957F2EA-6939-4DBD-8590-189370DF3C77}"/>
              </a:ext>
            </a:extLst>
          </p:cNvPr>
          <p:cNvSpPr>
            <a:spLocks xmlns:a="http://schemas.openxmlformats.org/drawingml/2006/main" noGrp="1"/>
          </p:cNvSpPr>
          <p:nvPr/>
        </p:nvSpPr>
        <p:spPr>
          <a:xfrm xmlns:a="http://schemas.openxmlformats.org/drawingml/2006/main">
            <a:off x="3867150" y="4886325"/>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Recherche sémantique</a:t>
            </a:r>
          </a:p>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Orchestration en lecture seule</a:t>
            </a:r>
          </a:p>
        </p:txBody>
      </p:sp>
      <p:sp>
        <p:nvSpPr>
          <p:cNvPr id="19" name="">
            <a:extLst xmlns:a="http://schemas.openxmlformats.org/drawingml/2006/main">
              <a:ext uri="{FF2B5EF4-FFF2-40B4-BE49-F238E27FC236}">
                <a16:creationId xmlns:a16="http://schemas.microsoft.com/office/drawing/2014/main" id="{ED09E645-9DD8-48AC-845A-60A48F89FBCC}"/>
              </a:ext>
            </a:extLst>
          </p:cNvPr>
          <p:cNvSpPr>
            <a:spLocks xmlns:a="http://schemas.openxmlformats.org/drawingml/2006/main" noGrp="1"/>
          </p:cNvSpPr>
          <p:nvPr/>
        </p:nvSpPr>
        <p:spPr>
          <a:xfrm xmlns:a="http://schemas.openxmlformats.org/drawingml/2006/main">
            <a:off x="666750" y="4619625"/>
            <a:ext cx="2238375"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01FE3411-125B-4C8A-ADD5-01C6146EA96D}"/>
              </a:ext>
            </a:extLst>
          </p:cNvPr>
          <p:cNvSpPr>
            <a:spLocks xmlns:a="http://schemas.openxmlformats.org/drawingml/2006/main" noGrp="1"/>
          </p:cNvSpPr>
          <p:nvPr/>
        </p:nvSpPr>
        <p:spPr>
          <a:xfrm xmlns:a="http://schemas.openxmlformats.org/drawingml/2006/main">
            <a:off x="819150" y="4791075"/>
            <a:ext cx="1933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Qdrant</a:t>
            </a:r>
          </a:p>
        </p:txBody>
      </p:sp>
      <p:sp>
        <p:nvSpPr>
          <p:cNvPr id="21" name="">
            <a:extLst xmlns:a="http://schemas.openxmlformats.org/drawingml/2006/main">
              <a:ext uri="{FF2B5EF4-FFF2-40B4-BE49-F238E27FC236}">
                <a16:creationId xmlns:a16="http://schemas.microsoft.com/office/drawing/2014/main" id="{C8FBD4B0-BA05-4CE1-9FC5-6EE0EA57D86E}"/>
              </a:ext>
            </a:extLst>
          </p:cNvPr>
          <p:cNvSpPr>
            <a:spLocks xmlns:a="http://schemas.openxmlformats.org/drawingml/2006/main" noGrp="1"/>
          </p:cNvSpPr>
          <p:nvPr/>
        </p:nvSpPr>
        <p:spPr>
          <a:xfrm xmlns:a="http://schemas.openxmlformats.org/drawingml/2006/main">
            <a:off x="819150" y="5172075"/>
            <a:ext cx="19335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Index vectoriel</a:t>
            </a:r>
          </a:p>
        </p:txBody>
      </p:sp>
      <p:sp>
        <p:nvSpPr>
          <p:cNvPr id="22" name="">
            <a:extLst xmlns:a="http://schemas.openxmlformats.org/drawingml/2006/main">
              <a:ext uri="{FF2B5EF4-FFF2-40B4-BE49-F238E27FC236}">
                <a16:creationId xmlns:a16="http://schemas.microsoft.com/office/drawing/2014/main" id="{E2DCEE6A-4467-43E6-8F99-22206BC3BFD6}"/>
              </a:ext>
            </a:extLst>
          </p:cNvPr>
          <p:cNvSpPr>
            <a:spLocks xmlns:a="http://schemas.openxmlformats.org/drawingml/2006/main" noGrp="1"/>
          </p:cNvSpPr>
          <p:nvPr/>
        </p:nvSpPr>
        <p:spPr>
          <a:xfrm xmlns:a="http://schemas.openxmlformats.org/drawingml/2006/main">
            <a:off x="8096250" y="4524375"/>
            <a:ext cx="2571750" cy="1095375"/>
          </a:xfrm>
          <a:prstGeom xmlns:a="http://schemas.openxmlformats.org/drawingml/2006/main" prst="roundRect">
            <a:avLst>
              <a:gd name="adj" fmla="val 15652"/>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2831BD97-6ADA-4A74-A3E3-D9B9782D5D08}"/>
              </a:ext>
            </a:extLst>
          </p:cNvPr>
          <p:cNvSpPr>
            <a:spLocks xmlns:a="http://schemas.openxmlformats.org/drawingml/2006/main" noGrp="1"/>
          </p:cNvSpPr>
          <p:nvPr/>
        </p:nvSpPr>
        <p:spPr>
          <a:xfrm xmlns:a="http://schemas.openxmlformats.org/drawingml/2006/main">
            <a:off x="8248650" y="4695825"/>
            <a:ext cx="2266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Ollama + Qwen 2.5</a:t>
            </a:r>
          </a:p>
        </p:txBody>
      </p:sp>
      <p:sp>
        <p:nvSpPr>
          <p:cNvPr id="24" name="">
            <a:extLst xmlns:a="http://schemas.openxmlformats.org/drawingml/2006/main">
              <a:ext uri="{FF2B5EF4-FFF2-40B4-BE49-F238E27FC236}">
                <a16:creationId xmlns:a16="http://schemas.microsoft.com/office/drawing/2014/main" id="{85B27A13-3D49-49B2-A046-3DCDBD8A71C4}"/>
              </a:ext>
            </a:extLst>
          </p:cNvPr>
          <p:cNvSpPr>
            <a:spLocks xmlns:a="http://schemas.openxmlformats.org/drawingml/2006/main" noGrp="1"/>
          </p:cNvSpPr>
          <p:nvPr/>
        </p:nvSpPr>
        <p:spPr>
          <a:xfrm xmlns:a="http://schemas.openxmlformats.org/drawingml/2006/main">
            <a:off x="8248650" y="5076825"/>
            <a:ext cx="2266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Extraction structurée locale</a:t>
            </a:r>
          </a:p>
        </p:txBody>
      </p:sp>
      <p:sp>
        <p:nvSpPr>
          <p:cNvPr id="31" name="">
            <a:extLst xmlns:a="http://schemas.openxmlformats.org/drawingml/2006/main">
              <a:ext uri="{FF2B5EF4-FFF2-40B4-BE49-F238E27FC236}">
                <a16:creationId xmlns:a16="http://schemas.microsoft.com/office/drawing/2014/main" id="{8B6180B1-C284-465A-9181-78E7F5FE73B7}"/>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32" name="">
            <a:extLst xmlns:a="http://schemas.openxmlformats.org/drawingml/2006/main">
              <a:ext uri="{FF2B5EF4-FFF2-40B4-BE49-F238E27FC236}">
                <a16:creationId xmlns:a16="http://schemas.microsoft.com/office/drawing/2014/main" id="{4FBA7D04-21AB-455F-9397-04ADE701EE96}"/>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07</a:t>
            </a:r>
          </a:p>
        </p:txBody>
      </p:sp>
    </p:spTree>
    <p:extLst>
      <p:ext uri="{BB962C8B-B14F-4D97-AF65-F5344CB8AC3E}">
        <p14:creationId xmlns:p14="http://schemas.microsoft.com/office/powerpoint/2010/main" val="730775940"/>
      </p:ext>
    </p:extLst>
  </p:cSld>
</p:sld>
</file>

<file path=ppt/slides/slide8.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cxnSp>
        <p:nvCxnSpPr>
          <p:cNvPr id="29" name=""/>
          <p:cNvCxnSpPr>
            <a:stCxn xmlns:a="http://schemas.openxmlformats.org/drawingml/2006/main" id="13" idx="3"/>
            <a:endCxn xmlns:a="http://schemas.openxmlformats.org/drawingml/2006/main" id="16" idx="1"/>
          </p:cNvCxnSpPr>
          <p:nvPr/>
        </p:nvCxnSpPr>
        <p:spPr>
          <a:xfrm xmlns:a="http://schemas.openxmlformats.org/drawingml/2006/main">
            <a:off x="8562975" y="1881188"/>
            <a:ext cx="361950"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0" name=""/>
          <p:cNvCxnSpPr>
            <a:stCxn xmlns:a="http://schemas.openxmlformats.org/drawingml/2006/main" id="10" idx="3"/>
            <a:endCxn xmlns:a="http://schemas.openxmlformats.org/drawingml/2006/main" id="13" idx="1"/>
          </p:cNvCxnSpPr>
          <p:nvPr/>
        </p:nvCxnSpPr>
        <p:spPr>
          <a:xfrm xmlns:a="http://schemas.openxmlformats.org/drawingml/2006/main">
            <a:off x="6486525" y="1881188"/>
            <a:ext cx="361950"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1" name=""/>
          <p:cNvCxnSpPr>
            <a:stCxn xmlns:a="http://schemas.openxmlformats.org/drawingml/2006/main" id="7" idx="3"/>
            <a:endCxn xmlns:a="http://schemas.openxmlformats.org/drawingml/2006/main" id="10" idx="1"/>
          </p:cNvCxnSpPr>
          <p:nvPr/>
        </p:nvCxnSpPr>
        <p:spPr>
          <a:xfrm xmlns:a="http://schemas.openxmlformats.org/drawingml/2006/main">
            <a:off x="4410075" y="1881188"/>
            <a:ext cx="361950"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2" name=""/>
          <p:cNvCxnSpPr>
            <a:stCxn xmlns:a="http://schemas.openxmlformats.org/drawingml/2006/main" id="4" idx="3"/>
            <a:endCxn xmlns:a="http://schemas.openxmlformats.org/drawingml/2006/main" id="7" idx="1"/>
          </p:cNvCxnSpPr>
          <p:nvPr/>
        </p:nvCxnSpPr>
        <p:spPr>
          <a:xfrm xmlns:a="http://schemas.openxmlformats.org/drawingml/2006/main">
            <a:off x="2333625" y="1881188"/>
            <a:ext cx="361950" cy="0"/>
          </a:xfrm>
          <a:prstGeom xmlns:a="http://schemas.openxmlformats.org/drawingml/2006/main" prst="straightConnector1">
            <a:avLst/>
          </a:prstGeom>
          <a:ln xmlns:a="http://schemas.openxmlformats.org/drawingml/2006/main" w="28575">
            <a:solidFill>
              <a:srgbClr val="F45837"/>
            </a:solidFill>
            <a:tailEnd type="triangle" w="sm" len="sm"/>
          </a:ln>
        </p:spPr>
      </p:cxnSp>
      <p:sp>
        <p:nvSpPr>
          <p:cNvPr id="33" name="">
            <a:extLst xmlns:a="http://schemas.openxmlformats.org/drawingml/2006/main">
              <a:ext uri="{FF2B5EF4-FFF2-40B4-BE49-F238E27FC236}">
                <a16:creationId xmlns:a16="http://schemas.microsoft.com/office/drawing/2014/main" id="{2920344C-F3B9-4B39-ABDE-14631791D681}"/>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D3CDFC65-5F29-4839-9116-A66DC72EB168}"/>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5A9361A-85A9-4FB4-82B4-1B68222D17D9}"/>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Recherche intelligente et réponse ancrée</a:t>
            </a:r>
          </a:p>
        </p:txBody>
      </p:sp>
      <p:sp>
        <p:nvSpPr>
          <p:cNvPr id="4" name="">
            <a:extLst xmlns:a="http://schemas.openxmlformats.org/drawingml/2006/main">
              <a:ext uri="{FF2B5EF4-FFF2-40B4-BE49-F238E27FC236}">
                <a16:creationId xmlns:a16="http://schemas.microsoft.com/office/drawing/2014/main" id="{62E92FB3-7348-4E8B-A3F3-C3ACBBD454B6}"/>
              </a:ext>
            </a:extLst>
          </p:cNvPr>
          <p:cNvSpPr>
            <a:spLocks xmlns:a="http://schemas.openxmlformats.org/drawingml/2006/main" noGrp="1"/>
          </p:cNvSpPr>
          <p:nvPr/>
        </p:nvSpPr>
        <p:spPr>
          <a:xfrm xmlns:a="http://schemas.openxmlformats.org/drawingml/2006/main">
            <a:off x="6191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93CD0750-F260-4F63-99C6-28A9B5216B89}"/>
              </a:ext>
            </a:extLst>
          </p:cNvPr>
          <p:cNvSpPr>
            <a:spLocks xmlns:a="http://schemas.openxmlformats.org/drawingml/2006/main" noGrp="1"/>
          </p:cNvSpPr>
          <p:nvPr/>
        </p:nvSpPr>
        <p:spPr>
          <a:xfrm xmlns:a="http://schemas.openxmlformats.org/drawingml/2006/main">
            <a:off x="7715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Requête libre</a:t>
            </a:r>
          </a:p>
        </p:txBody>
      </p:sp>
      <p:sp>
        <p:nvSpPr>
          <p:cNvPr id="6" name="">
            <a:extLst xmlns:a="http://schemas.openxmlformats.org/drawingml/2006/main">
              <a:ext uri="{FF2B5EF4-FFF2-40B4-BE49-F238E27FC236}">
                <a16:creationId xmlns:a16="http://schemas.microsoft.com/office/drawing/2014/main" id="{4A348044-2178-4B07-96F7-4BE984F679D2}"/>
              </a:ext>
            </a:extLst>
          </p:cNvPr>
          <p:cNvSpPr>
            <a:spLocks xmlns:a="http://schemas.openxmlformats.org/drawingml/2006/main" noGrp="1"/>
          </p:cNvSpPr>
          <p:nvPr/>
        </p:nvSpPr>
        <p:spPr>
          <a:xfrm xmlns:a="http://schemas.openxmlformats.org/drawingml/2006/main">
            <a:off x="7715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FR · EN · TN</a:t>
            </a:r>
          </a:p>
        </p:txBody>
      </p:sp>
      <p:sp>
        <p:nvSpPr>
          <p:cNvPr id="7" name="">
            <a:extLst xmlns:a="http://schemas.openxmlformats.org/drawingml/2006/main">
              <a:ext uri="{FF2B5EF4-FFF2-40B4-BE49-F238E27FC236}">
                <a16:creationId xmlns:a16="http://schemas.microsoft.com/office/drawing/2014/main" id="{9B653562-5ABF-4DF2-8AE9-1CA457786FF4}"/>
              </a:ext>
            </a:extLst>
          </p:cNvPr>
          <p:cNvSpPr>
            <a:spLocks xmlns:a="http://schemas.openxmlformats.org/drawingml/2006/main" noGrp="1"/>
          </p:cNvSpPr>
          <p:nvPr/>
        </p:nvSpPr>
        <p:spPr>
          <a:xfrm xmlns:a="http://schemas.openxmlformats.org/drawingml/2006/main">
            <a:off x="2695575" y="1381125"/>
            <a:ext cx="1714500" cy="1000125"/>
          </a:xfrm>
          <a:prstGeom xmlns:a="http://schemas.openxmlformats.org/drawingml/2006/main" prst="roundRect">
            <a:avLst>
              <a:gd name="adj" fmla="val 17143"/>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1778EE94-3D47-40AD-BEB6-DD66F35EBCB5}"/>
              </a:ext>
            </a:extLst>
          </p:cNvPr>
          <p:cNvSpPr>
            <a:spLocks xmlns:a="http://schemas.openxmlformats.org/drawingml/2006/main" noGrp="1"/>
          </p:cNvSpPr>
          <p:nvPr/>
        </p:nvSpPr>
        <p:spPr>
          <a:xfrm xmlns:a="http://schemas.openxmlformats.org/drawingml/2006/main">
            <a:off x="284797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Contraintes</a:t>
            </a:r>
          </a:p>
        </p:txBody>
      </p:sp>
      <p:sp>
        <p:nvSpPr>
          <p:cNvPr id="9" name="">
            <a:extLst xmlns:a="http://schemas.openxmlformats.org/drawingml/2006/main">
              <a:ext uri="{FF2B5EF4-FFF2-40B4-BE49-F238E27FC236}">
                <a16:creationId xmlns:a16="http://schemas.microsoft.com/office/drawing/2014/main" id="{6C6E6637-EE8F-4E6A-A8DD-269ACBD0599C}"/>
              </a:ext>
            </a:extLst>
          </p:cNvPr>
          <p:cNvSpPr>
            <a:spLocks xmlns:a="http://schemas.openxmlformats.org/drawingml/2006/main" noGrp="1"/>
          </p:cNvSpPr>
          <p:nvPr/>
        </p:nvSpPr>
        <p:spPr>
          <a:xfrm xmlns:a="http://schemas.openxmlformats.org/drawingml/2006/main">
            <a:off x="284797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Qwen JSON</a:t>
            </a:r>
          </a:p>
        </p:txBody>
      </p:sp>
      <p:sp>
        <p:nvSpPr>
          <p:cNvPr id="10" name="">
            <a:extLst xmlns:a="http://schemas.openxmlformats.org/drawingml/2006/main">
              <a:ext uri="{FF2B5EF4-FFF2-40B4-BE49-F238E27FC236}">
                <a16:creationId xmlns:a16="http://schemas.microsoft.com/office/drawing/2014/main" id="{12D24476-3779-4EBE-B0B9-4B3258751225}"/>
              </a:ext>
            </a:extLst>
          </p:cNvPr>
          <p:cNvSpPr>
            <a:spLocks xmlns:a="http://schemas.openxmlformats.org/drawingml/2006/main" noGrp="1"/>
          </p:cNvSpPr>
          <p:nvPr/>
        </p:nvSpPr>
        <p:spPr>
          <a:xfrm xmlns:a="http://schemas.openxmlformats.org/drawingml/2006/main">
            <a:off x="47720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BA3ED4C9-9538-4DA4-844C-100C3F6D9D9E}"/>
              </a:ext>
            </a:extLst>
          </p:cNvPr>
          <p:cNvSpPr>
            <a:spLocks xmlns:a="http://schemas.openxmlformats.org/drawingml/2006/main" noGrp="1"/>
          </p:cNvSpPr>
          <p:nvPr/>
        </p:nvSpPr>
        <p:spPr>
          <a:xfrm xmlns:a="http://schemas.openxmlformats.org/drawingml/2006/main">
            <a:off x="49244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Recherche</a:t>
            </a:r>
          </a:p>
        </p:txBody>
      </p:sp>
      <p:sp>
        <p:nvSpPr>
          <p:cNvPr id="12" name="">
            <a:extLst xmlns:a="http://schemas.openxmlformats.org/drawingml/2006/main">
              <a:ext uri="{FF2B5EF4-FFF2-40B4-BE49-F238E27FC236}">
                <a16:creationId xmlns:a16="http://schemas.microsoft.com/office/drawing/2014/main" id="{4C235E1E-DBAB-49C6-BEF8-26BBD78158D7}"/>
              </a:ext>
            </a:extLst>
          </p:cNvPr>
          <p:cNvSpPr>
            <a:spLocks xmlns:a="http://schemas.openxmlformats.org/drawingml/2006/main" noGrp="1"/>
          </p:cNvSpPr>
          <p:nvPr/>
        </p:nvSpPr>
        <p:spPr>
          <a:xfrm xmlns:a="http://schemas.openxmlformats.org/drawingml/2006/main">
            <a:off x="49244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FastEmbed + Qdrant</a:t>
            </a:r>
          </a:p>
        </p:txBody>
      </p:sp>
      <p:sp>
        <p:nvSpPr>
          <p:cNvPr id="13" name="">
            <a:extLst xmlns:a="http://schemas.openxmlformats.org/drawingml/2006/main">
              <a:ext uri="{FF2B5EF4-FFF2-40B4-BE49-F238E27FC236}">
                <a16:creationId xmlns:a16="http://schemas.microsoft.com/office/drawing/2014/main" id="{0E9C775E-EC39-4EB0-8FE3-A710F987B8B8}"/>
              </a:ext>
            </a:extLst>
          </p:cNvPr>
          <p:cNvSpPr>
            <a:spLocks xmlns:a="http://schemas.openxmlformats.org/drawingml/2006/main" noGrp="1"/>
          </p:cNvSpPr>
          <p:nvPr/>
        </p:nvSpPr>
        <p:spPr>
          <a:xfrm xmlns:a="http://schemas.openxmlformats.org/drawingml/2006/main">
            <a:off x="6848475" y="1381125"/>
            <a:ext cx="1714500" cy="1000125"/>
          </a:xfrm>
          <a:prstGeom xmlns:a="http://schemas.openxmlformats.org/drawingml/2006/main" prst="roundRect">
            <a:avLst>
              <a:gd name="adj" fmla="val 17143"/>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D87A806-EE01-4144-892E-221DD3A85889}"/>
              </a:ext>
            </a:extLst>
          </p:cNvPr>
          <p:cNvSpPr>
            <a:spLocks xmlns:a="http://schemas.openxmlformats.org/drawingml/2006/main" noGrp="1"/>
          </p:cNvSpPr>
          <p:nvPr/>
        </p:nvSpPr>
        <p:spPr>
          <a:xfrm xmlns:a="http://schemas.openxmlformats.org/drawingml/2006/main">
            <a:off x="700087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Validation</a:t>
            </a:r>
          </a:p>
        </p:txBody>
      </p:sp>
      <p:sp>
        <p:nvSpPr>
          <p:cNvPr id="15" name="">
            <a:extLst xmlns:a="http://schemas.openxmlformats.org/drawingml/2006/main">
              <a:ext uri="{FF2B5EF4-FFF2-40B4-BE49-F238E27FC236}">
                <a16:creationId xmlns:a16="http://schemas.microsoft.com/office/drawing/2014/main" id="{5CF6B894-1939-49AB-A5B6-30F3335CEB4C}"/>
              </a:ext>
            </a:extLst>
          </p:cNvPr>
          <p:cNvSpPr>
            <a:spLocks xmlns:a="http://schemas.openxmlformats.org/drawingml/2006/main" noGrp="1"/>
          </p:cNvSpPr>
          <p:nvPr/>
        </p:nvSpPr>
        <p:spPr>
          <a:xfrm xmlns:a="http://schemas.openxmlformats.org/drawingml/2006/main">
            <a:off x="700087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Règles métier</a:t>
            </a:r>
          </a:p>
        </p:txBody>
      </p:sp>
      <p:sp>
        <p:nvSpPr>
          <p:cNvPr id="16" name="">
            <a:extLst xmlns:a="http://schemas.openxmlformats.org/drawingml/2006/main">
              <a:ext uri="{FF2B5EF4-FFF2-40B4-BE49-F238E27FC236}">
                <a16:creationId xmlns:a16="http://schemas.microsoft.com/office/drawing/2014/main" id="{AD8DB8DD-1002-4867-842E-F1F00416CECA}"/>
              </a:ext>
            </a:extLst>
          </p:cNvPr>
          <p:cNvSpPr>
            <a:spLocks xmlns:a="http://schemas.openxmlformats.org/drawingml/2006/main" noGrp="1"/>
          </p:cNvSpPr>
          <p:nvPr/>
        </p:nvSpPr>
        <p:spPr>
          <a:xfrm xmlns:a="http://schemas.openxmlformats.org/drawingml/2006/main">
            <a:off x="8924925" y="1381125"/>
            <a:ext cx="1714500" cy="1000125"/>
          </a:xfrm>
          <a:prstGeom xmlns:a="http://schemas.openxmlformats.org/drawingml/2006/main" prst="roundRect">
            <a:avLst>
              <a:gd name="adj" fmla="val 17143"/>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2CC419E3-F932-4DC9-9571-420829B225C9}"/>
              </a:ext>
            </a:extLst>
          </p:cNvPr>
          <p:cNvSpPr>
            <a:spLocks xmlns:a="http://schemas.openxmlformats.org/drawingml/2006/main" noGrp="1"/>
          </p:cNvSpPr>
          <p:nvPr/>
        </p:nvSpPr>
        <p:spPr>
          <a:xfrm xmlns:a="http://schemas.openxmlformats.org/drawingml/2006/main">
            <a:off x="9077325" y="1552575"/>
            <a:ext cx="1409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Réponse</a:t>
            </a:r>
          </a:p>
        </p:txBody>
      </p:sp>
      <p:sp>
        <p:nvSpPr>
          <p:cNvPr id="18" name="">
            <a:extLst xmlns:a="http://schemas.openxmlformats.org/drawingml/2006/main">
              <a:ext uri="{FF2B5EF4-FFF2-40B4-BE49-F238E27FC236}">
                <a16:creationId xmlns:a16="http://schemas.microsoft.com/office/drawing/2014/main" id="{F8AE5D41-9E01-4126-AE37-769E5E3DDFDD}"/>
              </a:ext>
            </a:extLst>
          </p:cNvPr>
          <p:cNvSpPr>
            <a:spLocks xmlns:a="http://schemas.openxmlformats.org/drawingml/2006/main" noGrp="1"/>
          </p:cNvSpPr>
          <p:nvPr/>
        </p:nvSpPr>
        <p:spPr>
          <a:xfrm xmlns:a="http://schemas.openxmlformats.org/drawingml/2006/main">
            <a:off x="9077325" y="1933575"/>
            <a:ext cx="1409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Annonces actives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76421f8cbdb94ebf"/>
          <a:srcRect xmlns:a="http://schemas.openxmlformats.org/drawingml/2006/main" l="2000" t="3000" r="2000" b="4000"/>
          <a:stretch xmlns:a="http://schemas.openxmlformats.org/drawingml/2006/main"/>
        </p:blipFill>
        <p:spPr>
          <a:xfrm xmlns:a="http://schemas.openxmlformats.org/drawingml/2006/main">
            <a:off x="3905250" y="2857500"/>
            <a:ext cx="7620000" cy="3095625"/>
          </a:xfrm>
          <a:prstGeom xmlns:a="http://schemas.openxmlformats.org/drawingml/2006/main" prst="roundRect">
            <a:avLst>
              <a:gd name="adj" fmla="val 5538"/>
            </a:avLst>
          </a:prstGeom>
        </p:spPr>
      </p:pic>
      <p:sp>
        <p:nvSpPr>
          <p:cNvPr id="24" name="">
            <a:extLst xmlns:a="http://schemas.openxmlformats.org/drawingml/2006/main">
              <a:ext uri="{FF2B5EF4-FFF2-40B4-BE49-F238E27FC236}">
                <a16:creationId xmlns:a16="http://schemas.microsoft.com/office/drawing/2014/main" id="{5AA5FC71-67FA-427C-B853-2F511C6A8084}"/>
              </a:ext>
            </a:extLst>
          </p:cNvPr>
          <p:cNvSpPr>
            <a:spLocks xmlns:a="http://schemas.openxmlformats.org/drawingml/2006/main" noGrp="1"/>
          </p:cNvSpPr>
          <p:nvPr/>
        </p:nvSpPr>
        <p:spPr>
          <a:xfrm xmlns:a="http://schemas.openxmlformats.org/drawingml/2006/main">
            <a:off x="666750" y="33337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F45837"/>
                </a:solidFill>
                <a:latin typeface="Arial"/>
                <a:ea typeface="Arial"/>
                <a:cs typeface="Arial"/>
              </a:defRPr>
            </a:pPr>
            <a:r>
              <a:rPr sz="2100" b="1" i="0">
                <a:solidFill>
                  <a:srgbClr val="F45837"/>
                </a:solidFill>
                <a:latin typeface="Arial"/>
                <a:ea typeface="Arial"/>
                <a:cs typeface="Arial"/>
              </a:rPr>
              <a:t>Le modèle propose</a:t>
            </a:r>
          </a:p>
        </p:txBody>
      </p:sp>
      <p:sp>
        <p:nvSpPr>
          <p:cNvPr id="25" name="">
            <a:extLst xmlns:a="http://schemas.openxmlformats.org/drawingml/2006/main">
              <a:ext uri="{FF2B5EF4-FFF2-40B4-BE49-F238E27FC236}">
                <a16:creationId xmlns:a16="http://schemas.microsoft.com/office/drawing/2014/main" id="{136975D4-3A94-488D-ACE2-28449226E2BF}"/>
              </a:ext>
            </a:extLst>
          </p:cNvPr>
          <p:cNvSpPr>
            <a:spLocks xmlns:a="http://schemas.openxmlformats.org/drawingml/2006/main" noGrp="1"/>
          </p:cNvSpPr>
          <p:nvPr/>
        </p:nvSpPr>
        <p:spPr>
          <a:xfrm xmlns:a="http://schemas.openxmlformats.org/drawingml/2006/main">
            <a:off x="666750" y="3905250"/>
            <a:ext cx="2619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i="0">
                <a:solidFill>
                  <a:srgbClr val="0B3026"/>
                </a:solidFill>
                <a:latin typeface="Arial"/>
                <a:ea typeface="Arial"/>
                <a:cs typeface="Arial"/>
              </a:defRPr>
            </a:pPr>
            <a:r>
              <a:rPr sz="1875" b="1" i="0">
                <a:solidFill>
                  <a:srgbClr val="0B3026"/>
                </a:solidFill>
                <a:latin typeface="Arial"/>
                <a:ea typeface="Arial"/>
                <a:cs typeface="Arial"/>
              </a:rPr>
              <a:t>Le catalogue et les règles métier décident.</a:t>
            </a:r>
          </a:p>
        </p:txBody>
      </p:sp>
      <p:sp>
        <p:nvSpPr>
          <p:cNvPr id="26" name="">
            <a:extLst xmlns:a="http://schemas.openxmlformats.org/drawingml/2006/main">
              <a:ext uri="{FF2B5EF4-FFF2-40B4-BE49-F238E27FC236}">
                <a16:creationId xmlns:a16="http://schemas.microsoft.com/office/drawing/2014/main" id="{60FBA831-16C7-4726-999F-47A233C113EF}"/>
              </a:ext>
            </a:extLst>
          </p:cNvPr>
          <p:cNvSpPr>
            <a:spLocks xmlns:a="http://schemas.openxmlformats.org/drawingml/2006/main" noGrp="1"/>
          </p:cNvSpPr>
          <p:nvPr/>
        </p:nvSpPr>
        <p:spPr>
          <a:xfrm xmlns:a="http://schemas.openxmlformats.org/drawingml/2006/main">
            <a:off x="666750" y="5143500"/>
            <a:ext cx="266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i="0">
                <a:solidFill>
                  <a:srgbClr val="52645D"/>
                </a:solidFill>
                <a:latin typeface="Arial"/>
                <a:ea typeface="Arial"/>
                <a:cs typeface="Arial"/>
              </a:defRPr>
            </a:pPr>
            <a:r>
              <a:rPr sz="1275" b="0" i="0">
                <a:solidFill>
                  <a:srgbClr val="52645D"/>
                </a:solidFill>
                <a:latin typeface="Arial"/>
                <a:ea typeface="Arial"/>
                <a:cs typeface="Arial"/>
              </a:rPr>
              <a:t>Aucune réponse publique n’est construite à partir d’une annonce inactive ou incompatible.</a:t>
            </a:r>
          </a:p>
        </p:txBody>
      </p:sp>
      <p:sp>
        <p:nvSpPr>
          <p:cNvPr id="27" name="">
            <a:extLst xmlns:a="http://schemas.openxmlformats.org/drawingml/2006/main">
              <a:ext uri="{FF2B5EF4-FFF2-40B4-BE49-F238E27FC236}">
                <a16:creationId xmlns:a16="http://schemas.microsoft.com/office/drawing/2014/main" id="{E324717F-54C5-4A06-843B-AE2EA4FE83F9}"/>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8" name="">
            <a:extLst xmlns:a="http://schemas.openxmlformats.org/drawingml/2006/main">
              <a:ext uri="{FF2B5EF4-FFF2-40B4-BE49-F238E27FC236}">
                <a16:creationId xmlns:a16="http://schemas.microsoft.com/office/drawing/2014/main" id="{3CB5BEB5-AA41-4BE4-A3F4-351820F8BC2A}"/>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08</a:t>
            </a:r>
          </a:p>
        </p:txBody>
      </p:sp>
    </p:spTree>
    <p:extLst>
      <p:ext uri="{BB962C8B-B14F-4D97-AF65-F5344CB8AC3E}">
        <p14:creationId xmlns:p14="http://schemas.microsoft.com/office/powerpoint/2010/main" val="1866692005"/>
      </p:ext>
    </p:extLst>
  </p:cSld>
</p:sld>
</file>

<file path=ppt/slides/slide9.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5706033-175C-4336-85C8-19DCD6B8B2F9}"/>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C612C77A-040E-4FF1-895F-D45ADDA6BBFF}"/>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00C7A1E-E3E8-4FCE-AE9F-76FD3049026A}"/>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Adaptation locale du modèle</a:t>
            </a:r>
          </a:p>
        </p:txBody>
      </p:sp>
      <p:sp>
        <p:nvSpPr>
          <p:cNvPr id="4" name="">
            <a:extLst xmlns:a="http://schemas.openxmlformats.org/drawingml/2006/main">
              <a:ext uri="{FF2B5EF4-FFF2-40B4-BE49-F238E27FC236}">
                <a16:creationId xmlns:a16="http://schemas.microsoft.com/office/drawing/2014/main" id="{694A73A2-9742-4D77-BDDA-C3B91B07F3AE}"/>
              </a:ext>
            </a:extLst>
          </p:cNvPr>
          <p:cNvSpPr>
            <a:spLocks xmlns:a="http://schemas.openxmlformats.org/drawingml/2006/main" noGrp="1"/>
          </p:cNvSpPr>
          <p:nvPr/>
        </p:nvSpPr>
        <p:spPr>
          <a:xfrm xmlns:a="http://schemas.openxmlformats.org/drawingml/2006/main">
            <a:off x="666750" y="10477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i="0">
                <a:solidFill>
                  <a:srgbClr val="0B3026"/>
                </a:solidFill>
                <a:latin typeface="Arial"/>
                <a:ea typeface="Arial"/>
                <a:cs typeface="Arial"/>
              </a:defRPr>
            </a:pPr>
            <a:r>
              <a:rPr sz="1800" b="1" i="0">
                <a:solidFill>
                  <a:srgbClr val="0B3026"/>
                </a:solidFill>
                <a:latin typeface="Arial"/>
                <a:ea typeface="Arial"/>
                <a:cs typeface="Arial"/>
              </a:rPr>
              <a:t>Qwen 2.5 7B · QLoRA · RTX 4060 8 Go</a:t>
            </a:r>
          </a:p>
        </p:txBody>
      </p:sp>
      <p:sp>
        <p:nvSpPr>
          <p:cNvPr id="5" name="">
            <a:extLst xmlns:a="http://schemas.openxmlformats.org/drawingml/2006/main">
              <a:ext uri="{FF2B5EF4-FFF2-40B4-BE49-F238E27FC236}">
                <a16:creationId xmlns:a16="http://schemas.microsoft.com/office/drawing/2014/main" id="{CB23F177-FF39-4EE6-B169-E478BA277C7C}"/>
              </a:ext>
            </a:extLst>
          </p:cNvPr>
          <p:cNvSpPr>
            <a:spLocks xmlns:a="http://schemas.openxmlformats.org/drawingml/2006/main" noGrp="1"/>
          </p:cNvSpPr>
          <p:nvPr/>
        </p:nvSpPr>
        <p:spPr>
          <a:xfrm xmlns:a="http://schemas.openxmlformats.org/drawingml/2006/main">
            <a:off x="666750" y="1714500"/>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F45837"/>
                </a:solidFill>
                <a:latin typeface="Arial"/>
                <a:ea typeface="Arial"/>
                <a:cs typeface="Arial"/>
              </a:defRPr>
            </a:pPr>
            <a:r>
              <a:rPr sz="1200" b="1" i="0">
                <a:solidFill>
                  <a:srgbClr val="F45837"/>
                </a:solidFill>
                <a:latin typeface="Arial"/>
                <a:ea typeface="Arial"/>
                <a:cs typeface="Arial"/>
              </a:rPr>
              <a:t>Corpus v2</a:t>
            </a:r>
          </a:p>
        </p:txBody>
      </p:sp>
      <p:sp>
        <p:nvSpPr>
          <p:cNvPr id="6" name="">
            <a:extLst xmlns:a="http://schemas.openxmlformats.org/drawingml/2006/main">
              <a:ext uri="{FF2B5EF4-FFF2-40B4-BE49-F238E27FC236}">
                <a16:creationId xmlns:a16="http://schemas.microsoft.com/office/drawing/2014/main" id="{BFD0BB83-3690-4761-B52C-CC3C1E1DF821}"/>
              </a:ext>
            </a:extLst>
          </p:cNvPr>
          <p:cNvSpPr>
            <a:spLocks xmlns:a="http://schemas.openxmlformats.org/drawingml/2006/main" noGrp="1"/>
          </p:cNvSpPr>
          <p:nvPr/>
        </p:nvSpPr>
        <p:spPr>
          <a:xfrm xmlns:a="http://schemas.openxmlformats.org/drawingml/2006/main">
            <a:off x="666750" y="20478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1 120</a:t>
            </a:r>
          </a:p>
        </p:txBody>
      </p:sp>
      <p:sp>
        <p:nvSpPr>
          <p:cNvPr id="7" name="">
            <a:extLst xmlns:a="http://schemas.openxmlformats.org/drawingml/2006/main">
              <a:ext uri="{FF2B5EF4-FFF2-40B4-BE49-F238E27FC236}">
                <a16:creationId xmlns:a16="http://schemas.microsoft.com/office/drawing/2014/main" id="{C1B91DEC-26D7-4E64-A386-380DD92AE513}"/>
              </a:ext>
            </a:extLst>
          </p:cNvPr>
          <p:cNvSpPr>
            <a:spLocks xmlns:a="http://schemas.openxmlformats.org/drawingml/2006/main" noGrp="1"/>
          </p:cNvSpPr>
          <p:nvPr/>
        </p:nvSpPr>
        <p:spPr>
          <a:xfrm xmlns:a="http://schemas.openxmlformats.org/drawingml/2006/main">
            <a:off x="666750" y="25717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exemples d’entraînement</a:t>
            </a:r>
          </a:p>
        </p:txBody>
      </p:sp>
      <p:sp>
        <p:nvSpPr>
          <p:cNvPr id="8" name="">
            <a:extLst xmlns:a="http://schemas.openxmlformats.org/drawingml/2006/main">
              <a:ext uri="{FF2B5EF4-FFF2-40B4-BE49-F238E27FC236}">
                <a16:creationId xmlns:a16="http://schemas.microsoft.com/office/drawing/2014/main" id="{CF94A7F4-4A02-4C98-9CAE-056A1CA75FC2}"/>
              </a:ext>
            </a:extLst>
          </p:cNvPr>
          <p:cNvSpPr>
            <a:spLocks xmlns:a="http://schemas.openxmlformats.org/drawingml/2006/main" noGrp="1"/>
          </p:cNvSpPr>
          <p:nvPr/>
        </p:nvSpPr>
        <p:spPr>
          <a:xfrm xmlns:a="http://schemas.openxmlformats.org/drawingml/2006/main">
            <a:off x="2571750" y="2047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160</a:t>
            </a:r>
          </a:p>
        </p:txBody>
      </p:sp>
      <p:sp>
        <p:nvSpPr>
          <p:cNvPr id="9" name="">
            <a:extLst xmlns:a="http://schemas.openxmlformats.org/drawingml/2006/main">
              <a:ext uri="{FF2B5EF4-FFF2-40B4-BE49-F238E27FC236}">
                <a16:creationId xmlns:a16="http://schemas.microsoft.com/office/drawing/2014/main" id="{19C8D43D-76E1-4076-BA10-1CE5F86916BF}"/>
              </a:ext>
            </a:extLst>
          </p:cNvPr>
          <p:cNvSpPr>
            <a:spLocks xmlns:a="http://schemas.openxmlformats.org/drawingml/2006/main" noGrp="1"/>
          </p:cNvSpPr>
          <p:nvPr/>
        </p:nvSpPr>
        <p:spPr>
          <a:xfrm xmlns:a="http://schemas.openxmlformats.org/drawingml/2006/main">
            <a:off x="2571750" y="257175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validation</a:t>
            </a:r>
          </a:p>
        </p:txBody>
      </p:sp>
      <p:sp>
        <p:nvSpPr>
          <p:cNvPr id="10" name="">
            <a:extLst xmlns:a="http://schemas.openxmlformats.org/drawingml/2006/main">
              <a:ext uri="{FF2B5EF4-FFF2-40B4-BE49-F238E27FC236}">
                <a16:creationId xmlns:a16="http://schemas.microsoft.com/office/drawing/2014/main" id="{38A0E714-C7B4-4933-9548-A907FD55A923}"/>
              </a:ext>
            </a:extLst>
          </p:cNvPr>
          <p:cNvSpPr>
            <a:spLocks xmlns:a="http://schemas.openxmlformats.org/drawingml/2006/main" noGrp="1"/>
          </p:cNvSpPr>
          <p:nvPr/>
        </p:nvSpPr>
        <p:spPr>
          <a:xfrm xmlns:a="http://schemas.openxmlformats.org/drawingml/2006/main">
            <a:off x="4143375" y="2047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17231F"/>
                </a:solidFill>
                <a:latin typeface="Arial"/>
                <a:ea typeface="Arial"/>
                <a:cs typeface="Arial"/>
              </a:defRPr>
            </a:pPr>
            <a:r>
              <a:rPr sz="2850" b="1" i="0">
                <a:solidFill>
                  <a:srgbClr val="17231F"/>
                </a:solidFill>
                <a:latin typeface="Arial"/>
                <a:ea typeface="Arial"/>
                <a:cs typeface="Arial"/>
              </a:rPr>
              <a:t>120</a:t>
            </a:r>
          </a:p>
        </p:txBody>
      </p:sp>
      <p:sp>
        <p:nvSpPr>
          <p:cNvPr id="11" name="">
            <a:extLst xmlns:a="http://schemas.openxmlformats.org/drawingml/2006/main">
              <a:ext uri="{FF2B5EF4-FFF2-40B4-BE49-F238E27FC236}">
                <a16:creationId xmlns:a16="http://schemas.microsoft.com/office/drawing/2014/main" id="{3212FDA1-0ED9-4278-8783-F6F9A0491A10}"/>
              </a:ext>
            </a:extLst>
          </p:cNvPr>
          <p:cNvSpPr>
            <a:spLocks xmlns:a="http://schemas.openxmlformats.org/drawingml/2006/main" noGrp="1"/>
          </p:cNvSpPr>
          <p:nvPr/>
        </p:nvSpPr>
        <p:spPr>
          <a:xfrm xmlns:a="http://schemas.openxmlformats.org/drawingml/2006/main">
            <a:off x="4143375" y="2571750"/>
            <a:ext cx="1619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52645D"/>
                </a:solidFill>
                <a:latin typeface="Arial"/>
                <a:ea typeface="Arial"/>
                <a:cs typeface="Arial"/>
              </a:defRPr>
            </a:pPr>
            <a:r>
              <a:rPr sz="1125" b="0" i="0">
                <a:solidFill>
                  <a:srgbClr val="52645D"/>
                </a:solidFill>
                <a:latin typeface="Arial"/>
                <a:ea typeface="Arial"/>
                <a:cs typeface="Arial"/>
              </a:rPr>
              <a:t>test tenu à l’écart</a:t>
            </a:r>
          </a:p>
        </p:txBody>
      </p:sp>
      <p:graphicFrame>
        <p:nvGraphicFramePr>
          <p:cNvPr id="30" name="Chart"/>
          <p:cNvGraphicFramePr/>
          <p:nvPr/>
        </p:nvGraphicFramePr>
        <p:xfrm>
          <a:off xmlns:a="http://schemas.openxmlformats.org/drawingml/2006/main" x="5905500" y="1190625"/>
          <a:ext xmlns:a="http://schemas.openxmlformats.org/drawingml/2006/main" cx="5476875" cy="3857625"/>
        </p:xfrm>
        <a:graphic xmlns:a="http://schemas.openxmlformats.org/drawingml/2006/main">
          <a:graphicData uri="http://schemas.openxmlformats.org/drawingml/2006/chart">
            <c:chart xmlns:r="http://schemas.openxmlformats.org/officeDocument/2006/relationships" xmlns:c="http://schemas.openxmlformats.org/drawingml/2006/chart" r:id="Rf91fb5f260764df6"/>
          </a:graphicData>
        </a:graphic>
      </p:graphicFrame>
      <p:sp>
        <p:nvSpPr>
          <p:cNvPr id="13" name="">
            <a:extLst xmlns:a="http://schemas.openxmlformats.org/drawingml/2006/main">
              <a:ext uri="{FF2B5EF4-FFF2-40B4-BE49-F238E27FC236}">
                <a16:creationId xmlns:a16="http://schemas.microsoft.com/office/drawing/2014/main" id="{792E9DD7-F486-4DFD-9DE1-F1AA1A250D08}"/>
              </a:ext>
            </a:extLst>
          </p:cNvPr>
          <p:cNvSpPr>
            <a:spLocks xmlns:a="http://schemas.openxmlformats.org/drawingml/2006/main" noGrp="1"/>
          </p:cNvSpPr>
          <p:nvPr/>
        </p:nvSpPr>
        <p:spPr>
          <a:xfrm xmlns:a="http://schemas.openxmlformats.org/drawingml/2006/main">
            <a:off x="666750" y="3333750"/>
            <a:ext cx="4762500" cy="1762125"/>
          </a:xfrm>
          <a:prstGeom xmlns:a="http://schemas.openxmlformats.org/drawingml/2006/main" prst="roundRect">
            <a:avLst>
              <a:gd name="adj" fmla="val 11892"/>
            </a:avLst>
          </a:prstGeom>
          <a:solidFill xmlns:a="http://schemas.openxmlformats.org/drawingml/2006/main">
            <a:srgbClr val="0B3026"/>
          </a:solidFill>
          <a:ln xmlns:a="http://schemas.openxmlformats.org/drawingml/2006/main" w="9525">
            <a:solidFill>
              <a:srgbClr val="0B3026"/>
            </a:solidFill>
            <a:prstDash val="solid"/>
          </a:ln>
        </p:spPr>
      </p:sp>
      <p:sp>
        <p:nvSpPr>
          <p:cNvPr id="14" name="">
            <a:extLst xmlns:a="http://schemas.openxmlformats.org/drawingml/2006/main">
              <a:ext uri="{FF2B5EF4-FFF2-40B4-BE49-F238E27FC236}">
                <a16:creationId xmlns:a16="http://schemas.microsoft.com/office/drawing/2014/main" id="{6AB4BF0F-9C8B-4E24-AB28-543BA66966B3}"/>
              </a:ext>
            </a:extLst>
          </p:cNvPr>
          <p:cNvSpPr>
            <a:spLocks xmlns:a="http://schemas.openxmlformats.org/drawingml/2006/main" noGrp="1"/>
          </p:cNvSpPr>
          <p:nvPr/>
        </p:nvSpPr>
        <p:spPr>
          <a:xfrm xmlns:a="http://schemas.openxmlformats.org/drawingml/2006/main">
            <a:off x="952500" y="361950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50" b="1" i="0">
                <a:solidFill>
                  <a:srgbClr val="FFFFFF"/>
                </a:solidFill>
                <a:latin typeface="Arial"/>
                <a:ea typeface="Arial"/>
                <a:cs typeface="Arial"/>
              </a:defRPr>
            </a:pPr>
            <a:r>
              <a:rPr sz="2850" b="1" i="0">
                <a:solidFill>
                  <a:srgbClr val="FFFFFF"/>
                </a:solidFill>
                <a:latin typeface="Arial"/>
                <a:ea typeface="Arial"/>
                <a:cs typeface="Arial"/>
              </a:rPr>
              <a:t>96,7 %</a:t>
            </a:r>
          </a:p>
        </p:txBody>
      </p:sp>
      <p:sp>
        <p:nvSpPr>
          <p:cNvPr id="15" name="">
            <a:extLst xmlns:a="http://schemas.openxmlformats.org/drawingml/2006/main">
              <a:ext uri="{FF2B5EF4-FFF2-40B4-BE49-F238E27FC236}">
                <a16:creationId xmlns:a16="http://schemas.microsoft.com/office/drawing/2014/main" id="{C54BD111-90F0-444D-8063-6A25C3A72289}"/>
              </a:ext>
            </a:extLst>
          </p:cNvPr>
          <p:cNvSpPr>
            <a:spLocks xmlns:a="http://schemas.openxmlformats.org/drawingml/2006/main" noGrp="1"/>
          </p:cNvSpPr>
          <p:nvPr/>
        </p:nvSpPr>
        <p:spPr>
          <a:xfrm xmlns:a="http://schemas.openxmlformats.org/drawingml/2006/main">
            <a:off x="952500" y="4238625"/>
            <a:ext cx="3905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i="0">
                <a:solidFill>
                  <a:srgbClr val="BFD8CB"/>
                </a:solidFill>
                <a:latin typeface="Arial"/>
                <a:ea typeface="Arial"/>
                <a:cs typeface="Arial"/>
              </a:defRPr>
            </a:pPr>
            <a:r>
              <a:rPr sz="1575" b="1" i="0">
                <a:solidFill>
                  <a:srgbClr val="BFD8CB"/>
                </a:solidFill>
                <a:latin typeface="Arial"/>
                <a:ea typeface="Arial"/>
                <a:cs typeface="Arial"/>
              </a:rPr>
              <a:t>exactitude complète après validation déterministe</a:t>
            </a:r>
          </a:p>
        </p:txBody>
      </p:sp>
      <p:sp>
        <p:nvSpPr>
          <p:cNvPr id="16" name="">
            <a:extLst xmlns:a="http://schemas.openxmlformats.org/drawingml/2006/main">
              <a:ext uri="{FF2B5EF4-FFF2-40B4-BE49-F238E27FC236}">
                <a16:creationId xmlns:a16="http://schemas.microsoft.com/office/drawing/2014/main" id="{4AFBA050-EAAE-4574-BEC6-BD7A61F2454B}"/>
              </a:ext>
            </a:extLst>
          </p:cNvPr>
          <p:cNvSpPr>
            <a:spLocks xmlns:a="http://schemas.openxmlformats.org/drawingml/2006/main" noGrp="1"/>
          </p:cNvSpPr>
          <p:nvPr/>
        </p:nvSpPr>
        <p:spPr>
          <a:xfrm xmlns:a="http://schemas.openxmlformats.org/drawingml/2006/main">
            <a:off x="666750" y="5476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i="0">
                <a:solidFill>
                  <a:srgbClr val="17231F"/>
                </a:solidFill>
                <a:latin typeface="Arial"/>
                <a:ea typeface="Arial"/>
                <a:cs typeface="Arial"/>
              </a:defRPr>
            </a:pPr>
            <a:r>
              <a:rPr sz="1425" b="0" i="0">
                <a:solidFill>
                  <a:srgbClr val="17231F"/>
                </a:solidFill>
                <a:latin typeface="Arial"/>
                <a:ea typeface="Arial"/>
                <a:cs typeface="Arial"/>
              </a:rPr>
              <a:t>Les sorties brutes ne deviennent jamais directement des filtres de compatibilité.</a:t>
            </a:r>
          </a:p>
        </p:txBody>
      </p:sp>
      <p:sp>
        <p:nvSpPr>
          <p:cNvPr id="17" name="">
            <a:extLst xmlns:a="http://schemas.openxmlformats.org/drawingml/2006/main">
              <a:ext uri="{FF2B5EF4-FFF2-40B4-BE49-F238E27FC236}">
                <a16:creationId xmlns:a16="http://schemas.microsoft.com/office/drawing/2014/main" id="{3BBC96F9-C6F1-49A7-B4FD-66828C449B72}"/>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1A25FBBD-5209-4BFC-A0CC-C565F121512E}"/>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09</a:t>
            </a:r>
          </a:p>
        </p:txBody>
      </p:sp>
    </p:spTree>
    <p:extLst>
      <p:ext uri="{BB962C8B-B14F-4D97-AF65-F5344CB8AC3E}">
        <p14:creationId xmlns:p14="http://schemas.microsoft.com/office/powerpoint/2010/main" val="1205931269"/>
      </p:ext>
    </p:extLst>
  </p:cSld>
</p:sld>
</file>

<file path=ppt/slides/slide10.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7B6C1F2-23AE-465E-B2A9-EEF352BD56E8}"/>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10</a:t>
            </a:r>
          </a:p>
        </p:txBody>
      </p:sp>
      <p:sp>
        <p:nvSpPr>
          <p:cNvPr id="2" name="">
            <a:extLst xmlns:a="http://schemas.openxmlformats.org/drawingml/2006/main">
              <a:ext uri="{FF2B5EF4-FFF2-40B4-BE49-F238E27FC236}">
                <a16:creationId xmlns:a16="http://schemas.microsoft.com/office/drawing/2014/main" id="{95D85222-2E21-4F3C-87A6-5077106ED9B9}"/>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FEEB306-1FB7-4B35-9C0A-8C83006EDF79}"/>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Recommandations personnalisées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6dc9b14fa64cc5"/>
          <a:stretch xmlns:a="http://schemas.openxmlformats.org/drawingml/2006/main"/>
        </p:blipFill>
        <p:spPr>
          <a:xfrm xmlns:a="http://schemas.openxmlformats.org/drawingml/2006/main">
            <a:off x="666750" y="2010966"/>
            <a:ext cx="6572250" cy="3121819"/>
          </a:xfrm>
          <a:prstGeom xmlns:a="http://schemas.openxmlformats.org/drawingml/2006/main" prst="roundRect">
            <a:avLst>
              <a:gd name="adj" fmla="val 3600"/>
            </a:avLst>
          </a:prstGeom>
        </p:spPr>
      </p:pic>
      <p:sp>
        <p:nvSpPr>
          <p:cNvPr id="5" name="">
            <a:extLst xmlns:a="http://schemas.openxmlformats.org/drawingml/2006/main">
              <a:ext uri="{FF2B5EF4-FFF2-40B4-BE49-F238E27FC236}">
                <a16:creationId xmlns:a16="http://schemas.microsoft.com/office/drawing/2014/main" id="{044D17E3-C6D8-4F61-939B-1E1098BD497F}"/>
              </a:ext>
            </a:extLst>
          </p:cNvPr>
          <p:cNvSpPr>
            <a:spLocks xmlns:a="http://schemas.openxmlformats.org/drawingml/2006/main" noGrp="1"/>
          </p:cNvSpPr>
          <p:nvPr/>
        </p:nvSpPr>
        <p:spPr>
          <a:xfrm xmlns:a="http://schemas.openxmlformats.org/drawingml/2006/main">
            <a:off x="7810500" y="128587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Une base explicable</a:t>
            </a:r>
          </a:p>
        </p:txBody>
      </p:sp>
      <p:sp>
        <p:nvSpPr>
          <p:cNvPr id="6" name="">
            <a:extLst xmlns:a="http://schemas.openxmlformats.org/drawingml/2006/main">
              <a:ext uri="{FF2B5EF4-FFF2-40B4-BE49-F238E27FC236}">
                <a16:creationId xmlns:a16="http://schemas.microsoft.com/office/drawing/2014/main" id="{1FD6FF36-1C05-4CFF-9362-11F52C7C4554}"/>
              </a:ext>
            </a:extLst>
          </p:cNvPr>
          <p:cNvSpPr>
            <a:spLocks xmlns:a="http://schemas.openxmlformats.org/drawingml/2006/main" noGrp="1"/>
          </p:cNvSpPr>
          <p:nvPr/>
        </p:nvSpPr>
        <p:spPr>
          <a:xfrm xmlns:a="http://schemas.openxmlformats.org/drawingml/2006/main">
            <a:off x="7715250" y="2000250"/>
            <a:ext cx="3667125"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Préférences véhicule déclarées par l’acheteur.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Catégories consultées, favoris et interactions vendeur.</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Popularité et récence des annonces actives.</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Raisons visibles pour chaque recommandation.</a:t>
            </a:r>
          </a:p>
        </p:txBody>
      </p:sp>
      <p:sp>
        <p:nvSpPr>
          <p:cNvPr id="7" name="">
            <a:extLst xmlns:a="http://schemas.openxmlformats.org/drawingml/2006/main">
              <a:ext uri="{FF2B5EF4-FFF2-40B4-BE49-F238E27FC236}">
                <a16:creationId xmlns:a16="http://schemas.microsoft.com/office/drawing/2014/main" id="{4E966398-5238-4E52-826D-624E138D82AB}"/>
              </a:ext>
            </a:extLst>
          </p:cNvPr>
          <p:cNvSpPr>
            <a:spLocks xmlns:a="http://schemas.openxmlformats.org/drawingml/2006/main" noGrp="1"/>
          </p:cNvSpPr>
          <p:nvPr/>
        </p:nvSpPr>
        <p:spPr>
          <a:xfrm xmlns:a="http://schemas.openxmlformats.org/drawingml/2006/main">
            <a:off x="7762875" y="4810125"/>
            <a:ext cx="3571875" cy="1285875"/>
          </a:xfrm>
          <a:prstGeom xmlns:a="http://schemas.openxmlformats.org/drawingml/2006/main" prst="roundRect">
            <a:avLst>
              <a:gd name="adj" fmla="val 13333"/>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E7BAC2E5-AFDD-462D-82B7-0B59A52B768E}"/>
              </a:ext>
            </a:extLst>
          </p:cNvPr>
          <p:cNvSpPr>
            <a:spLocks xmlns:a="http://schemas.openxmlformats.org/drawingml/2006/main" noGrp="1"/>
          </p:cNvSpPr>
          <p:nvPr/>
        </p:nvSpPr>
        <p:spPr>
          <a:xfrm xmlns:a="http://schemas.openxmlformats.org/drawingml/2006/main">
            <a:off x="8001000" y="50006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i="0">
                <a:solidFill>
                  <a:srgbClr val="F45837"/>
                </a:solidFill>
                <a:latin typeface="Arial"/>
                <a:ea typeface="Arial"/>
                <a:cs typeface="Arial"/>
              </a:defRPr>
            </a:pPr>
            <a:r>
              <a:rPr sz="1275" b="1" i="0">
                <a:solidFill>
                  <a:srgbClr val="F45837"/>
                </a:solidFill>
                <a:latin typeface="Arial"/>
                <a:ea typeface="Arial"/>
                <a:cs typeface="Arial"/>
              </a:rPr>
              <a:t>Vie privée</a:t>
            </a:r>
          </a:p>
        </p:txBody>
      </p:sp>
      <p:sp>
        <p:nvSpPr>
          <p:cNvPr id="9" name="">
            <a:extLst xmlns:a="http://schemas.openxmlformats.org/drawingml/2006/main">
              <a:ext uri="{FF2B5EF4-FFF2-40B4-BE49-F238E27FC236}">
                <a16:creationId xmlns:a16="http://schemas.microsoft.com/office/drawing/2014/main" id="{55E0CB53-BCD2-4E8D-AC91-6576B4612F29}"/>
              </a:ext>
            </a:extLst>
          </p:cNvPr>
          <p:cNvSpPr>
            <a:spLocks xmlns:a="http://schemas.openxmlformats.org/drawingml/2006/main" noGrp="1"/>
          </p:cNvSpPr>
          <p:nvPr/>
        </p:nvSpPr>
        <p:spPr>
          <a:xfrm xmlns:a="http://schemas.openxmlformats.org/drawingml/2006/main">
            <a:off x="8001000" y="5314950"/>
            <a:ext cx="304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125" b="0" i="0">
                <a:solidFill>
                  <a:srgbClr val="17231F"/>
                </a:solidFill>
                <a:latin typeface="Arial"/>
                <a:ea typeface="Arial"/>
                <a:cs typeface="Arial"/>
              </a:defRPr>
            </a:pPr>
            <a:r>
              <a:rPr sz="1125" b="0" i="0">
                <a:solidFill>
                  <a:srgbClr val="17231F"/>
                </a:solidFill>
                <a:latin typeface="Arial"/>
                <a:ea typeface="Arial"/>
                <a:cs typeface="Arial"/>
              </a:rPr>
              <a:t>L’acheteur peut désactiver la personnalisation ou effacer son historique sans supprimer ses favoris.</a:t>
            </a:r>
          </a:p>
        </p:txBody>
      </p:sp>
      <p:sp>
        <p:nvSpPr>
          <p:cNvPr id="10" name="">
            <a:extLst xmlns:a="http://schemas.openxmlformats.org/drawingml/2006/main">
              <a:ext uri="{FF2B5EF4-FFF2-40B4-BE49-F238E27FC236}">
                <a16:creationId xmlns:a16="http://schemas.microsoft.com/office/drawing/2014/main" id="{71AB75B3-1360-491E-BA5C-2E87C1FFA570}"/>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1" name="">
            <a:extLst xmlns:a="http://schemas.openxmlformats.org/drawingml/2006/main">
              <a:ext uri="{FF2B5EF4-FFF2-40B4-BE49-F238E27FC236}">
                <a16:creationId xmlns:a16="http://schemas.microsoft.com/office/drawing/2014/main" id="{7B0ED6B2-4AD1-460E-8D53-87CAEFBA4944}"/>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10</a:t>
            </a:r>
          </a:p>
        </p:txBody>
      </p:sp>
    </p:spTree>
    <p:extLst>
      <p:ext uri="{BB962C8B-B14F-4D97-AF65-F5344CB8AC3E}">
        <p14:creationId xmlns:p14="http://schemas.microsoft.com/office/powerpoint/2010/main" val="800075021"/>
      </p:ext>
    </p:extLst>
  </p:cSld>
</p:sld>
</file>

<file path=ppt/slides/slide11.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338F5E9-9B7F-4B29-B8E1-DCBF6FB3B6A8}"/>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11</a:t>
            </a:r>
          </a:p>
        </p:txBody>
      </p:sp>
      <p:sp>
        <p:nvSpPr>
          <p:cNvPr id="2" name="">
            <a:extLst xmlns:a="http://schemas.openxmlformats.org/drawingml/2006/main">
              <a:ext uri="{FF2B5EF4-FFF2-40B4-BE49-F238E27FC236}">
                <a16:creationId xmlns:a16="http://schemas.microsoft.com/office/drawing/2014/main" id="{AAFDFC25-9AB5-4EA4-BC92-4EF2AAA45EC9}"/>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FE27032-3E34-4449-B3FD-A228A6EC2C5A}"/>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Sécurité et protection des données</a:t>
            </a:r>
          </a:p>
        </p:txBody>
      </p:sp>
      <p:sp>
        <p:nvSpPr>
          <p:cNvPr id="4" name="">
            <a:extLst xmlns:a="http://schemas.openxmlformats.org/drawingml/2006/main">
              <a:ext uri="{FF2B5EF4-FFF2-40B4-BE49-F238E27FC236}">
                <a16:creationId xmlns:a16="http://schemas.microsoft.com/office/drawing/2014/main" id="{CE7382BD-F019-4519-9D9D-F7A695512BF5}"/>
              </a:ext>
            </a:extLst>
          </p:cNvPr>
          <p:cNvSpPr>
            <a:spLocks xmlns:a="http://schemas.openxmlformats.org/drawingml/2006/main" noGrp="1"/>
          </p:cNvSpPr>
          <p:nvPr/>
        </p:nvSpPr>
        <p:spPr>
          <a:xfrm xmlns:a="http://schemas.openxmlformats.org/drawingml/2006/main">
            <a:off x="904875" y="1285875"/>
            <a:ext cx="9620250" cy="838200"/>
          </a:xfrm>
          <a:prstGeom xmlns:a="http://schemas.openxmlformats.org/drawingml/2006/main" prst="roundRect">
            <a:avLst>
              <a:gd name="adj" fmla="val 20455"/>
            </a:avLst>
          </a:prstGeom>
          <a:solidFill xmlns:a="http://schemas.openxmlformats.org/drawingml/2006/main">
            <a:srgbClr val="FBFAF5"/>
          </a:solidFill>
          <a:ln xmlns:a="http://schemas.openxmlformats.org/drawingml/2006/main" w="9525">
            <a:solidFill>
              <a:srgbClr val="C8D8D0"/>
            </a:solidFill>
            <a:prstDash val="solid"/>
          </a:ln>
        </p:spPr>
      </p:sp>
      <p:sp>
        <p:nvSpPr>
          <p:cNvPr id="5" name="">
            <a:extLst xmlns:a="http://schemas.openxmlformats.org/drawingml/2006/main">
              <a:ext uri="{FF2B5EF4-FFF2-40B4-BE49-F238E27FC236}">
                <a16:creationId xmlns:a16="http://schemas.microsoft.com/office/drawing/2014/main" id="{9989992C-068A-4889-8BE8-2E4225792D6F}"/>
              </a:ext>
            </a:extLst>
          </p:cNvPr>
          <p:cNvSpPr>
            <a:spLocks xmlns:a="http://schemas.openxmlformats.org/drawingml/2006/main" noGrp="1"/>
          </p:cNvSpPr>
          <p:nvPr/>
        </p:nvSpPr>
        <p:spPr>
          <a:xfrm xmlns:a="http://schemas.openxmlformats.org/drawingml/2006/main">
            <a:off x="1285875" y="1457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Identité</a:t>
            </a:r>
          </a:p>
        </p:txBody>
      </p:sp>
      <p:sp>
        <p:nvSpPr>
          <p:cNvPr id="6" name="">
            <a:extLst xmlns:a="http://schemas.openxmlformats.org/drawingml/2006/main">
              <a:ext uri="{FF2B5EF4-FFF2-40B4-BE49-F238E27FC236}">
                <a16:creationId xmlns:a16="http://schemas.microsoft.com/office/drawing/2014/main" id="{88950A9E-3EC3-42CB-AA51-49F9C515F2C8}"/>
              </a:ext>
            </a:extLst>
          </p:cNvPr>
          <p:cNvSpPr>
            <a:spLocks xmlns:a="http://schemas.openxmlformats.org/drawingml/2006/main" noGrp="1"/>
          </p:cNvSpPr>
          <p:nvPr/>
        </p:nvSpPr>
        <p:spPr>
          <a:xfrm xmlns:a="http://schemas.openxmlformats.org/drawingml/2006/main">
            <a:off x="3571875" y="14573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JWT, OAuth2, récupération contrôlée</a:t>
            </a:r>
          </a:p>
        </p:txBody>
      </p:sp>
      <p:sp>
        <p:nvSpPr>
          <p:cNvPr id="7" name="">
            <a:extLst xmlns:a="http://schemas.openxmlformats.org/drawingml/2006/main">
              <a:ext uri="{FF2B5EF4-FFF2-40B4-BE49-F238E27FC236}">
                <a16:creationId xmlns:a16="http://schemas.microsoft.com/office/drawing/2014/main" id="{D9E6A6CA-BE55-4ADC-95E9-A293B39FB5E5}"/>
              </a:ext>
            </a:extLst>
          </p:cNvPr>
          <p:cNvSpPr>
            <a:spLocks xmlns:a="http://schemas.openxmlformats.org/drawingml/2006/main" noGrp="1"/>
          </p:cNvSpPr>
          <p:nvPr/>
        </p:nvSpPr>
        <p:spPr>
          <a:xfrm xmlns:a="http://schemas.openxmlformats.org/drawingml/2006/main">
            <a:off x="1238250" y="2428875"/>
            <a:ext cx="8953500" cy="838200"/>
          </a:xfrm>
          <a:prstGeom xmlns:a="http://schemas.openxmlformats.org/drawingml/2006/main" prst="roundRect">
            <a:avLst>
              <a:gd name="adj" fmla="val 20455"/>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AFE49CBB-290D-4FDD-8F5A-E3B6B9AE76BD}"/>
              </a:ext>
            </a:extLst>
          </p:cNvPr>
          <p:cNvSpPr>
            <a:spLocks xmlns:a="http://schemas.openxmlformats.org/drawingml/2006/main" noGrp="1"/>
          </p:cNvSpPr>
          <p:nvPr/>
        </p:nvSpPr>
        <p:spPr>
          <a:xfrm xmlns:a="http://schemas.openxmlformats.org/drawingml/2006/main">
            <a:off x="1619250" y="2600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Autorisation</a:t>
            </a:r>
          </a:p>
        </p:txBody>
      </p:sp>
      <p:sp>
        <p:nvSpPr>
          <p:cNvPr id="9" name="">
            <a:extLst xmlns:a="http://schemas.openxmlformats.org/drawingml/2006/main">
              <a:ext uri="{FF2B5EF4-FFF2-40B4-BE49-F238E27FC236}">
                <a16:creationId xmlns:a16="http://schemas.microsoft.com/office/drawing/2014/main" id="{A7379E21-6065-4FE9-9C1D-139A1AC39C9F}"/>
              </a:ext>
            </a:extLst>
          </p:cNvPr>
          <p:cNvSpPr>
            <a:spLocks xmlns:a="http://schemas.openxmlformats.org/drawingml/2006/main" noGrp="1"/>
          </p:cNvSpPr>
          <p:nvPr/>
        </p:nvSpPr>
        <p:spPr>
          <a:xfrm xmlns:a="http://schemas.openxmlformats.org/drawingml/2006/main">
            <a:off x="3762375" y="2600325"/>
            <a:ext cx="581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RBAC pour acheteur, vendeur et administrateur</a:t>
            </a:r>
          </a:p>
        </p:txBody>
      </p:sp>
      <p:sp>
        <p:nvSpPr>
          <p:cNvPr id="10" name="">
            <a:extLst xmlns:a="http://schemas.openxmlformats.org/drawingml/2006/main">
              <a:ext uri="{FF2B5EF4-FFF2-40B4-BE49-F238E27FC236}">
                <a16:creationId xmlns:a16="http://schemas.microsoft.com/office/drawing/2014/main" id="{7BE34633-F596-4201-94DC-C7AA0918995B}"/>
              </a:ext>
            </a:extLst>
          </p:cNvPr>
          <p:cNvSpPr>
            <a:spLocks xmlns:a="http://schemas.openxmlformats.org/drawingml/2006/main" noGrp="1"/>
          </p:cNvSpPr>
          <p:nvPr/>
        </p:nvSpPr>
        <p:spPr>
          <a:xfrm xmlns:a="http://schemas.openxmlformats.org/drawingml/2006/main">
            <a:off x="1571625" y="3571875"/>
            <a:ext cx="8286750" cy="838200"/>
          </a:xfrm>
          <a:prstGeom xmlns:a="http://schemas.openxmlformats.org/drawingml/2006/main" prst="roundRect">
            <a:avLst>
              <a:gd name="adj" fmla="val 20455"/>
            </a:avLst>
          </a:prstGeom>
          <a:solidFill xmlns:a="http://schemas.openxmlformats.org/drawingml/2006/main">
            <a:srgbClr val="FBFAF5"/>
          </a:solidFill>
          <a:ln xmlns:a="http://schemas.openxmlformats.org/drawingml/2006/main" w="9525">
            <a:solidFill>
              <a:srgbClr val="C8D8D0"/>
            </a:solidFill>
            <a:prstDash val="solid"/>
          </a:ln>
        </p:spPr>
      </p:sp>
      <p:sp>
        <p:nvSpPr>
          <p:cNvPr id="11" name="">
            <a:extLst xmlns:a="http://schemas.openxmlformats.org/drawingml/2006/main">
              <a:ext uri="{FF2B5EF4-FFF2-40B4-BE49-F238E27FC236}">
                <a16:creationId xmlns:a16="http://schemas.microsoft.com/office/drawing/2014/main" id="{C29D1AA8-A908-492E-9565-17E9DD7439FC}"/>
              </a:ext>
            </a:extLst>
          </p:cNvPr>
          <p:cNvSpPr>
            <a:spLocks xmlns:a="http://schemas.openxmlformats.org/drawingml/2006/main" noGrp="1"/>
          </p:cNvSpPr>
          <p:nvPr/>
        </p:nvSpPr>
        <p:spPr>
          <a:xfrm xmlns:a="http://schemas.openxmlformats.org/drawingml/2006/main">
            <a:off x="1952625" y="3743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Données</a:t>
            </a:r>
          </a:p>
        </p:txBody>
      </p:sp>
      <p:sp>
        <p:nvSpPr>
          <p:cNvPr id="12" name="">
            <a:extLst xmlns:a="http://schemas.openxmlformats.org/drawingml/2006/main">
              <a:ext uri="{FF2B5EF4-FFF2-40B4-BE49-F238E27FC236}">
                <a16:creationId xmlns:a16="http://schemas.microsoft.com/office/drawing/2014/main" id="{1BBD2652-61F2-44F0-9FBA-76E5C9DF8E91}"/>
              </a:ext>
            </a:extLst>
          </p:cNvPr>
          <p:cNvSpPr>
            <a:spLocks xmlns:a="http://schemas.openxmlformats.org/drawingml/2006/main" noGrp="1"/>
          </p:cNvSpPr>
          <p:nvPr/>
        </p:nvSpPr>
        <p:spPr>
          <a:xfrm xmlns:a="http://schemas.openxmlformats.org/drawingml/2006/main">
            <a:off x="3952875" y="37433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DTO, validation des fichiers et secrets hors du dépôt</a:t>
            </a:r>
          </a:p>
        </p:txBody>
      </p:sp>
      <p:sp>
        <p:nvSpPr>
          <p:cNvPr id="13" name="">
            <a:extLst xmlns:a="http://schemas.openxmlformats.org/drawingml/2006/main">
              <a:ext uri="{FF2B5EF4-FFF2-40B4-BE49-F238E27FC236}">
                <a16:creationId xmlns:a16="http://schemas.microsoft.com/office/drawing/2014/main" id="{1BE4F7F0-C554-4154-B4B5-50746694743C}"/>
              </a:ext>
            </a:extLst>
          </p:cNvPr>
          <p:cNvSpPr>
            <a:spLocks xmlns:a="http://schemas.openxmlformats.org/drawingml/2006/main" noGrp="1"/>
          </p:cNvSpPr>
          <p:nvPr/>
        </p:nvSpPr>
        <p:spPr>
          <a:xfrm xmlns:a="http://schemas.openxmlformats.org/drawingml/2006/main">
            <a:off x="1905000" y="4714875"/>
            <a:ext cx="7620000" cy="838200"/>
          </a:xfrm>
          <a:prstGeom xmlns:a="http://schemas.openxmlformats.org/drawingml/2006/main" prst="roundRect">
            <a:avLst>
              <a:gd name="adj" fmla="val 20455"/>
            </a:avLst>
          </a:prstGeom>
          <a:solidFill xmlns:a="http://schemas.openxmlformats.org/drawingml/2006/main">
            <a:srgbClr val="FBE1D7"/>
          </a:solidFill>
          <a:ln xmlns:a="http://schemas.openxmlformats.org/drawingml/2006/main" w="9525">
            <a:solidFill>
              <a:srgbClr val="C8D8D0"/>
            </a:solidFill>
            <a:prstDash val="solid"/>
          </a:ln>
        </p:spPr>
      </p:sp>
      <p:sp>
        <p:nvSpPr>
          <p:cNvPr id="14" name="">
            <a:extLst xmlns:a="http://schemas.openxmlformats.org/drawingml/2006/main">
              <a:ext uri="{FF2B5EF4-FFF2-40B4-BE49-F238E27FC236}">
                <a16:creationId xmlns:a16="http://schemas.microsoft.com/office/drawing/2014/main" id="{943FCE21-7972-4BB2-9BFC-0E26B168CEE4}"/>
              </a:ext>
            </a:extLst>
          </p:cNvPr>
          <p:cNvSpPr>
            <a:spLocks xmlns:a="http://schemas.openxmlformats.org/drawingml/2006/main" noGrp="1"/>
          </p:cNvSpPr>
          <p:nvPr/>
        </p:nvSpPr>
        <p:spPr>
          <a:xfrm xmlns:a="http://schemas.openxmlformats.org/drawingml/2006/main">
            <a:off x="2286000" y="4886325"/>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i="0">
                <a:solidFill>
                  <a:srgbClr val="0B3026"/>
                </a:solidFill>
                <a:latin typeface="Arial"/>
                <a:ea typeface="Arial"/>
                <a:cs typeface="Arial"/>
              </a:defRPr>
            </a:pPr>
            <a:r>
              <a:rPr sz="1650" b="1" i="0">
                <a:solidFill>
                  <a:srgbClr val="0B3026"/>
                </a:solidFill>
                <a:latin typeface="Arial"/>
                <a:ea typeface="Arial"/>
                <a:cs typeface="Arial"/>
              </a:rPr>
              <a:t>IA</a:t>
            </a:r>
          </a:p>
        </p:txBody>
      </p:sp>
      <p:sp>
        <p:nvSpPr>
          <p:cNvPr id="15" name="">
            <a:extLst xmlns:a="http://schemas.openxmlformats.org/drawingml/2006/main">
              <a:ext uri="{FF2B5EF4-FFF2-40B4-BE49-F238E27FC236}">
                <a16:creationId xmlns:a16="http://schemas.microsoft.com/office/drawing/2014/main" id="{79D58738-F9BD-4FC1-AF23-972FFE62644B}"/>
              </a:ext>
            </a:extLst>
          </p:cNvPr>
          <p:cNvSpPr>
            <a:spLocks xmlns:a="http://schemas.openxmlformats.org/drawingml/2006/main" noGrp="1"/>
          </p:cNvSpPr>
          <p:nvPr/>
        </p:nvSpPr>
        <p:spPr>
          <a:xfrm xmlns:a="http://schemas.openxmlformats.org/drawingml/2006/main">
            <a:off x="4143375" y="48863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0" i="0">
                <a:solidFill>
                  <a:srgbClr val="17231F"/>
                </a:solidFill>
                <a:latin typeface="Arial"/>
                <a:ea typeface="Arial"/>
                <a:cs typeface="Arial"/>
              </a:defRPr>
            </a:pPr>
            <a:r>
              <a:rPr sz="1425" b="0" i="0">
                <a:solidFill>
                  <a:srgbClr val="17231F"/>
                </a:solidFill>
                <a:latin typeface="Arial"/>
                <a:ea typeface="Arial"/>
                <a:cs typeface="Arial"/>
              </a:rPr>
              <a:t>Jeton interne, limitation de débit et sortie revalidée</a:t>
            </a:r>
          </a:p>
        </p:txBody>
      </p:sp>
      <p:sp>
        <p:nvSpPr>
          <p:cNvPr id="16" name="">
            <a:extLst xmlns:a="http://schemas.openxmlformats.org/drawingml/2006/main">
              <a:ext uri="{FF2B5EF4-FFF2-40B4-BE49-F238E27FC236}">
                <a16:creationId xmlns:a16="http://schemas.microsoft.com/office/drawing/2014/main" id="{57EE7059-B041-413B-9BF9-11C02C6D27D6}"/>
              </a:ext>
            </a:extLst>
          </p:cNvPr>
          <p:cNvSpPr>
            <a:spLocks xmlns:a="http://schemas.openxmlformats.org/drawingml/2006/main" noGrp="1"/>
          </p:cNvSpPr>
          <p:nvPr/>
        </p:nvSpPr>
        <p:spPr>
          <a:xfrm xmlns:a="http://schemas.openxmlformats.org/drawingml/2006/main">
            <a:off x="1619250" y="6000750"/>
            <a:ext cx="895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FFFFFF"/>
                </a:solidFill>
                <a:latin typeface="Arial"/>
                <a:ea typeface="Arial"/>
                <a:cs typeface="Arial"/>
              </a:defRPr>
            </a:pPr>
            <a:r>
              <a:rPr sz="1650" b="1" i="0">
                <a:solidFill>
                  <a:srgbClr val="FFFFFF"/>
                </a:solidFill>
                <a:latin typeface="Arial"/>
                <a:ea typeface="Arial"/>
                <a:cs typeface="Arial"/>
              </a:rPr>
              <a:t>Principe : aucune décision sensible n’est déléguée au modèle.</a:t>
            </a:r>
          </a:p>
        </p:txBody>
      </p:sp>
      <p:sp>
        <p:nvSpPr>
          <p:cNvPr id="17" name="">
            <a:extLst xmlns:a="http://schemas.openxmlformats.org/drawingml/2006/main">
              <a:ext uri="{FF2B5EF4-FFF2-40B4-BE49-F238E27FC236}">
                <a16:creationId xmlns:a16="http://schemas.microsoft.com/office/drawing/2014/main" id="{ABFDB02D-E542-4C2C-976C-4D5A232DDCE3}"/>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18" name="">
            <a:extLst xmlns:a="http://schemas.openxmlformats.org/drawingml/2006/main">
              <a:ext uri="{FF2B5EF4-FFF2-40B4-BE49-F238E27FC236}">
                <a16:creationId xmlns:a16="http://schemas.microsoft.com/office/drawing/2014/main" id="{678FD14D-0008-41B4-8C78-48D74C640A31}"/>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11</a:t>
            </a:r>
          </a:p>
        </p:txBody>
      </p:sp>
    </p:spTree>
    <p:extLst>
      <p:ext uri="{BB962C8B-B14F-4D97-AF65-F5344CB8AC3E}">
        <p14:creationId xmlns:p14="http://schemas.microsoft.com/office/powerpoint/2010/main" val="354034170"/>
      </p:ext>
    </p:extLst>
  </p:cSld>
</p:sld>
</file>

<file path=ppt/slides/slide12.xml><?xml version="1.0" encoding="utf-8"?>
<p:sld xmlns:p="http://schemas.openxmlformats.org/presentationml/2006/main">
  <p:cSld>
    <p:bg>
      <p:bgPr>
        <a:solidFill xmlns:a="http://schemas.openxmlformats.org/drawingml/2006/main">
          <a:srgbClr val="F6F3E9"/>
        </a:solidFill>
      </p:bgPr>
    </p:bg>
    <p:spTree>
      <p:nvGrpSpPr>
        <p:cNvPr id="1" name=""/>
        <p:cNvGrpSpPr/>
        <p:nvPr/>
      </p:nvGrpSpPr>
      <p:grpSpPr>
        <a:xfrm xmlns:a="http://schemas.openxmlformats.org/drawingml/2006/main"/>
      </p:grpSpPr>
      <p:cxnSp>
        <p:nvCxnSpPr>
          <p:cNvPr id="29" name=""/>
          <p:cNvCxnSpPr>
            <a:stCxn xmlns:a="http://schemas.openxmlformats.org/drawingml/2006/main" id="13" idx="3"/>
            <a:endCxn xmlns:a="http://schemas.openxmlformats.org/drawingml/2006/main" id="16" idx="1"/>
          </p:cNvCxnSpPr>
          <p:nvPr/>
        </p:nvCxnSpPr>
        <p:spPr>
          <a:xfrm xmlns:a="http://schemas.openxmlformats.org/drawingml/2006/main">
            <a:off x="9296400" y="2476500"/>
            <a:ext cx="447675"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0" name=""/>
          <p:cNvCxnSpPr>
            <a:stCxn xmlns:a="http://schemas.openxmlformats.org/drawingml/2006/main" id="10" idx="3"/>
            <a:endCxn xmlns:a="http://schemas.openxmlformats.org/drawingml/2006/main" id="13" idx="1"/>
          </p:cNvCxnSpPr>
          <p:nvPr/>
        </p:nvCxnSpPr>
        <p:spPr>
          <a:xfrm xmlns:a="http://schemas.openxmlformats.org/drawingml/2006/main">
            <a:off x="6991350" y="2476500"/>
            <a:ext cx="447675"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1" name=""/>
          <p:cNvCxnSpPr>
            <a:stCxn xmlns:a="http://schemas.openxmlformats.org/drawingml/2006/main" id="7" idx="3"/>
            <a:endCxn xmlns:a="http://schemas.openxmlformats.org/drawingml/2006/main" id="10" idx="1"/>
          </p:cNvCxnSpPr>
          <p:nvPr/>
        </p:nvCxnSpPr>
        <p:spPr>
          <a:xfrm xmlns:a="http://schemas.openxmlformats.org/drawingml/2006/main">
            <a:off x="4686300" y="2476500"/>
            <a:ext cx="447675" cy="0"/>
          </a:xfrm>
          <a:prstGeom xmlns:a="http://schemas.openxmlformats.org/drawingml/2006/main" prst="straightConnector1">
            <a:avLst/>
          </a:prstGeom>
          <a:ln xmlns:a="http://schemas.openxmlformats.org/drawingml/2006/main" w="28575">
            <a:solidFill>
              <a:srgbClr val="F45837"/>
            </a:solidFill>
            <a:tailEnd type="triangle" w="sm" len="sm"/>
          </a:ln>
        </p:spPr>
      </p:cxnSp>
      <p:cxnSp>
        <p:nvCxnSpPr>
          <p:cNvPr id="32" name=""/>
          <p:cNvCxnSpPr>
            <a:stCxn xmlns:a="http://schemas.openxmlformats.org/drawingml/2006/main" id="4" idx="3"/>
            <a:endCxn xmlns:a="http://schemas.openxmlformats.org/drawingml/2006/main" id="7" idx="1"/>
          </p:cNvCxnSpPr>
          <p:nvPr/>
        </p:nvCxnSpPr>
        <p:spPr>
          <a:xfrm xmlns:a="http://schemas.openxmlformats.org/drawingml/2006/main">
            <a:off x="2381250" y="2476500"/>
            <a:ext cx="447675" cy="0"/>
          </a:xfrm>
          <a:prstGeom xmlns:a="http://schemas.openxmlformats.org/drawingml/2006/main" prst="straightConnector1">
            <a:avLst/>
          </a:prstGeom>
          <a:ln xmlns:a="http://schemas.openxmlformats.org/drawingml/2006/main" w="28575">
            <a:solidFill>
              <a:srgbClr val="F45837"/>
            </a:solidFill>
            <a:tailEnd type="triangle" w="sm" len="sm"/>
          </a:ln>
        </p:spPr>
      </p:cxnSp>
      <p:sp>
        <p:nvSpPr>
          <p:cNvPr id="33" name="">
            <a:extLst xmlns:a="http://schemas.openxmlformats.org/drawingml/2006/main">
              <a:ext uri="{FF2B5EF4-FFF2-40B4-BE49-F238E27FC236}">
                <a16:creationId xmlns:a16="http://schemas.microsoft.com/office/drawing/2014/main" id="{1719EA0B-3370-45DE-8F9C-51BAD81C967B}"/>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12</a:t>
            </a:r>
          </a:p>
        </p:txBody>
      </p:sp>
      <p:sp>
        <p:nvSpPr>
          <p:cNvPr id="2" name="">
            <a:extLst xmlns:a="http://schemas.openxmlformats.org/drawingml/2006/main">
              <a:ext uri="{FF2B5EF4-FFF2-40B4-BE49-F238E27FC236}">
                <a16:creationId xmlns:a16="http://schemas.microsoft.com/office/drawing/2014/main" id="{21B14016-6C96-4A3F-9175-DE2A9EF14F57}"/>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2231E28-046E-40C9-BF07-189CC66D14D5}"/>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CI/CD et observabilité</a:t>
            </a:r>
          </a:p>
        </p:txBody>
      </p:sp>
      <p:sp>
        <p:nvSpPr>
          <p:cNvPr id="4" name="">
            <a:extLst xmlns:a="http://schemas.openxmlformats.org/drawingml/2006/main">
              <a:ext uri="{FF2B5EF4-FFF2-40B4-BE49-F238E27FC236}">
                <a16:creationId xmlns:a16="http://schemas.microsoft.com/office/drawing/2014/main" id="{BE109268-0C07-4EC3-8329-F337E1634479}"/>
              </a:ext>
            </a:extLst>
          </p:cNvPr>
          <p:cNvSpPr>
            <a:spLocks xmlns:a="http://schemas.openxmlformats.org/drawingml/2006/main" noGrp="1"/>
          </p:cNvSpPr>
          <p:nvPr/>
        </p:nvSpPr>
        <p:spPr>
          <a:xfrm xmlns:a="http://schemas.openxmlformats.org/drawingml/2006/main">
            <a:off x="52387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6449D801-1F3E-4E1F-A6BC-E7556E02D6BB}"/>
              </a:ext>
            </a:extLst>
          </p:cNvPr>
          <p:cNvSpPr>
            <a:spLocks xmlns:a="http://schemas.openxmlformats.org/drawingml/2006/main" noGrp="1"/>
          </p:cNvSpPr>
          <p:nvPr/>
        </p:nvSpPr>
        <p:spPr>
          <a:xfrm xmlns:a="http://schemas.openxmlformats.org/drawingml/2006/main">
            <a:off x="6762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GitHub</a:t>
            </a:r>
          </a:p>
        </p:txBody>
      </p:sp>
      <p:sp>
        <p:nvSpPr>
          <p:cNvPr id="6" name="">
            <a:extLst xmlns:a="http://schemas.openxmlformats.org/drawingml/2006/main">
              <a:ext uri="{FF2B5EF4-FFF2-40B4-BE49-F238E27FC236}">
                <a16:creationId xmlns:a16="http://schemas.microsoft.com/office/drawing/2014/main" id="{82BAA77F-C050-47A1-B3A7-2FA8BC4E3D0E}"/>
              </a:ext>
            </a:extLst>
          </p:cNvPr>
          <p:cNvSpPr>
            <a:spLocks xmlns:a="http://schemas.openxmlformats.org/drawingml/2006/main" noGrp="1"/>
          </p:cNvSpPr>
          <p:nvPr/>
        </p:nvSpPr>
        <p:spPr>
          <a:xfrm xmlns:a="http://schemas.openxmlformats.org/drawingml/2006/main">
            <a:off x="6762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Code source</a:t>
            </a:r>
          </a:p>
        </p:txBody>
      </p:sp>
      <p:sp>
        <p:nvSpPr>
          <p:cNvPr id="7" name="">
            <a:extLst xmlns:a="http://schemas.openxmlformats.org/drawingml/2006/main">
              <a:ext uri="{FF2B5EF4-FFF2-40B4-BE49-F238E27FC236}">
                <a16:creationId xmlns:a16="http://schemas.microsoft.com/office/drawing/2014/main" id="{B963C5CE-DA57-4DEB-B08F-1E3E3F2A7AD1}"/>
              </a:ext>
            </a:extLst>
          </p:cNvPr>
          <p:cNvSpPr>
            <a:spLocks xmlns:a="http://schemas.openxmlformats.org/drawingml/2006/main" noGrp="1"/>
          </p:cNvSpPr>
          <p:nvPr/>
        </p:nvSpPr>
        <p:spPr>
          <a:xfrm xmlns:a="http://schemas.openxmlformats.org/drawingml/2006/main">
            <a:off x="2828925" y="1905000"/>
            <a:ext cx="1857375" cy="1143000"/>
          </a:xfrm>
          <a:prstGeom xmlns:a="http://schemas.openxmlformats.org/drawingml/2006/main" prst="roundRect">
            <a:avLst>
              <a:gd name="adj" fmla="val 15000"/>
            </a:avLst>
          </a:prstGeom>
          <a:solidFill xmlns:a="http://schemas.openxmlformats.org/drawingml/2006/main">
            <a:srgbClr val="FBE1D7"/>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3C4CF14C-0FC5-4EE9-9824-04CDECA81881}"/>
              </a:ext>
            </a:extLst>
          </p:cNvPr>
          <p:cNvSpPr>
            <a:spLocks xmlns:a="http://schemas.openxmlformats.org/drawingml/2006/main" noGrp="1"/>
          </p:cNvSpPr>
          <p:nvPr/>
        </p:nvSpPr>
        <p:spPr>
          <a:xfrm xmlns:a="http://schemas.openxmlformats.org/drawingml/2006/main">
            <a:off x="298132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Jenkins</a:t>
            </a:r>
          </a:p>
        </p:txBody>
      </p:sp>
      <p:sp>
        <p:nvSpPr>
          <p:cNvPr id="9" name="">
            <a:extLst xmlns:a="http://schemas.openxmlformats.org/drawingml/2006/main">
              <a:ext uri="{FF2B5EF4-FFF2-40B4-BE49-F238E27FC236}">
                <a16:creationId xmlns:a16="http://schemas.microsoft.com/office/drawing/2014/main" id="{4294FA5F-0223-4DE5-AC60-C0BDE6A22C42}"/>
              </a:ext>
            </a:extLst>
          </p:cNvPr>
          <p:cNvSpPr>
            <a:spLocks xmlns:a="http://schemas.openxmlformats.org/drawingml/2006/main" noGrp="1"/>
          </p:cNvSpPr>
          <p:nvPr/>
        </p:nvSpPr>
        <p:spPr>
          <a:xfrm xmlns:a="http://schemas.openxmlformats.org/drawingml/2006/main">
            <a:off x="298132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Pipeline</a:t>
            </a:r>
          </a:p>
        </p:txBody>
      </p:sp>
      <p:sp>
        <p:nvSpPr>
          <p:cNvPr id="10" name="">
            <a:extLst xmlns:a="http://schemas.openxmlformats.org/drawingml/2006/main">
              <a:ext uri="{FF2B5EF4-FFF2-40B4-BE49-F238E27FC236}">
                <a16:creationId xmlns:a16="http://schemas.microsoft.com/office/drawing/2014/main" id="{4580D8E8-46B1-446E-81C9-4A9444233AD2}"/>
              </a:ext>
            </a:extLst>
          </p:cNvPr>
          <p:cNvSpPr>
            <a:spLocks xmlns:a="http://schemas.openxmlformats.org/drawingml/2006/main" noGrp="1"/>
          </p:cNvSpPr>
          <p:nvPr/>
        </p:nvSpPr>
        <p:spPr>
          <a:xfrm xmlns:a="http://schemas.openxmlformats.org/drawingml/2006/main">
            <a:off x="513397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9A93B49-55E9-464A-BC77-55AE5FEE41FC}"/>
              </a:ext>
            </a:extLst>
          </p:cNvPr>
          <p:cNvSpPr>
            <a:spLocks xmlns:a="http://schemas.openxmlformats.org/drawingml/2006/main" noGrp="1"/>
          </p:cNvSpPr>
          <p:nvPr/>
        </p:nvSpPr>
        <p:spPr>
          <a:xfrm xmlns:a="http://schemas.openxmlformats.org/drawingml/2006/main">
            <a:off x="52863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Qualité</a:t>
            </a:r>
          </a:p>
        </p:txBody>
      </p:sp>
      <p:sp>
        <p:nvSpPr>
          <p:cNvPr id="12" name="">
            <a:extLst xmlns:a="http://schemas.openxmlformats.org/drawingml/2006/main">
              <a:ext uri="{FF2B5EF4-FFF2-40B4-BE49-F238E27FC236}">
                <a16:creationId xmlns:a16="http://schemas.microsoft.com/office/drawing/2014/main" id="{2BA75451-8E98-48B1-A9D7-BDA5AAAEEC53}"/>
              </a:ext>
            </a:extLst>
          </p:cNvPr>
          <p:cNvSpPr>
            <a:spLocks xmlns:a="http://schemas.openxmlformats.org/drawingml/2006/main" noGrp="1"/>
          </p:cNvSpPr>
          <p:nvPr/>
        </p:nvSpPr>
        <p:spPr>
          <a:xfrm xmlns:a="http://schemas.openxmlformats.org/drawingml/2006/main">
            <a:off x="52863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Tests + SonarQube</a:t>
            </a:r>
          </a:p>
        </p:txBody>
      </p:sp>
      <p:sp>
        <p:nvSpPr>
          <p:cNvPr id="13" name="">
            <a:extLst xmlns:a="http://schemas.openxmlformats.org/drawingml/2006/main">
              <a:ext uri="{FF2B5EF4-FFF2-40B4-BE49-F238E27FC236}">
                <a16:creationId xmlns:a16="http://schemas.microsoft.com/office/drawing/2014/main" id="{2F839039-2095-49D2-A609-15E1503BE499}"/>
              </a:ext>
            </a:extLst>
          </p:cNvPr>
          <p:cNvSpPr>
            <a:spLocks xmlns:a="http://schemas.openxmlformats.org/drawingml/2006/main" noGrp="1"/>
          </p:cNvSpPr>
          <p:nvPr/>
        </p:nvSpPr>
        <p:spPr>
          <a:xfrm xmlns:a="http://schemas.openxmlformats.org/drawingml/2006/main">
            <a:off x="7439025" y="1905000"/>
            <a:ext cx="1857375" cy="1143000"/>
          </a:xfrm>
          <a:prstGeom xmlns:a="http://schemas.openxmlformats.org/drawingml/2006/main" prst="roundRect">
            <a:avLst>
              <a:gd name="adj" fmla="val 15000"/>
            </a:avLst>
          </a:prstGeom>
          <a:solidFill xmlns:a="http://schemas.openxmlformats.org/drawingml/2006/main">
            <a:srgbClr val="FBFAF5"/>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379D933-16E6-4B5C-A962-0263060CFB6A}"/>
              </a:ext>
            </a:extLst>
          </p:cNvPr>
          <p:cNvSpPr>
            <a:spLocks xmlns:a="http://schemas.openxmlformats.org/drawingml/2006/main" noGrp="1"/>
          </p:cNvSpPr>
          <p:nvPr/>
        </p:nvSpPr>
        <p:spPr>
          <a:xfrm xmlns:a="http://schemas.openxmlformats.org/drawingml/2006/main">
            <a:off x="759142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Docker</a:t>
            </a:r>
          </a:p>
        </p:txBody>
      </p:sp>
      <p:sp>
        <p:nvSpPr>
          <p:cNvPr id="15" name="">
            <a:extLst xmlns:a="http://schemas.openxmlformats.org/drawingml/2006/main">
              <a:ext uri="{FF2B5EF4-FFF2-40B4-BE49-F238E27FC236}">
                <a16:creationId xmlns:a16="http://schemas.microsoft.com/office/drawing/2014/main" id="{80AC870A-1C21-4FD3-896A-C9E8EDC18082}"/>
              </a:ext>
            </a:extLst>
          </p:cNvPr>
          <p:cNvSpPr>
            <a:spLocks xmlns:a="http://schemas.openxmlformats.org/drawingml/2006/main" noGrp="1"/>
          </p:cNvSpPr>
          <p:nvPr/>
        </p:nvSpPr>
        <p:spPr>
          <a:xfrm xmlns:a="http://schemas.openxmlformats.org/drawingml/2006/main">
            <a:off x="759142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Images</a:t>
            </a:r>
          </a:p>
        </p:txBody>
      </p:sp>
      <p:sp>
        <p:nvSpPr>
          <p:cNvPr id="16" name="">
            <a:extLst xmlns:a="http://schemas.openxmlformats.org/drawingml/2006/main">
              <a:ext uri="{FF2B5EF4-FFF2-40B4-BE49-F238E27FC236}">
                <a16:creationId xmlns:a16="http://schemas.microsoft.com/office/drawing/2014/main" id="{CB7DB409-127B-49D3-A045-BC4A12907E8A}"/>
              </a:ext>
            </a:extLst>
          </p:cNvPr>
          <p:cNvSpPr>
            <a:spLocks xmlns:a="http://schemas.openxmlformats.org/drawingml/2006/main" noGrp="1"/>
          </p:cNvSpPr>
          <p:nvPr/>
        </p:nvSpPr>
        <p:spPr>
          <a:xfrm xmlns:a="http://schemas.openxmlformats.org/drawingml/2006/main">
            <a:off x="9744075" y="1905000"/>
            <a:ext cx="1857375" cy="1143000"/>
          </a:xfrm>
          <a:prstGeom xmlns:a="http://schemas.openxmlformats.org/drawingml/2006/main" prst="roundRect">
            <a:avLst>
              <a:gd name="adj" fmla="val 15000"/>
            </a:avLst>
          </a:prstGeom>
          <a:solidFill xmlns:a="http://schemas.openxmlformats.org/drawingml/2006/main">
            <a:srgbClr val="DDECE4"/>
          </a:solidFill>
          <a:ln xmlns:a="http://schemas.openxmlformats.org/drawingml/2006/main" w="9525">
            <a:solidFill>
              <a:srgbClr val="C8D8D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FD54B901-B2B8-40DE-889A-582429A194DA}"/>
              </a:ext>
            </a:extLst>
          </p:cNvPr>
          <p:cNvSpPr>
            <a:spLocks xmlns:a="http://schemas.openxmlformats.org/drawingml/2006/main" noGrp="1"/>
          </p:cNvSpPr>
          <p:nvPr/>
        </p:nvSpPr>
        <p:spPr>
          <a:xfrm xmlns:a="http://schemas.openxmlformats.org/drawingml/2006/main">
            <a:off x="9896475" y="2076450"/>
            <a:ext cx="15525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1" i="0">
                <a:solidFill>
                  <a:srgbClr val="0B3026"/>
                </a:solidFill>
                <a:latin typeface="Arial"/>
                <a:ea typeface="Arial"/>
                <a:cs typeface="Arial"/>
              </a:defRPr>
            </a:pPr>
            <a:r>
              <a:rPr sz="1650" b="1" i="0">
                <a:solidFill>
                  <a:srgbClr val="0B3026"/>
                </a:solidFill>
                <a:latin typeface="Arial"/>
                <a:ea typeface="Arial"/>
                <a:cs typeface="Arial"/>
              </a:rPr>
              <a:t>Observabilité</a:t>
            </a:r>
          </a:p>
        </p:txBody>
      </p:sp>
      <p:sp>
        <p:nvSpPr>
          <p:cNvPr id="18" name="">
            <a:extLst xmlns:a="http://schemas.openxmlformats.org/drawingml/2006/main">
              <a:ext uri="{FF2B5EF4-FFF2-40B4-BE49-F238E27FC236}">
                <a16:creationId xmlns:a16="http://schemas.microsoft.com/office/drawing/2014/main" id="{E49B2F74-3628-49DF-95AE-21DC3A29E9A0}"/>
              </a:ext>
            </a:extLst>
          </p:cNvPr>
          <p:cNvSpPr>
            <a:spLocks xmlns:a="http://schemas.openxmlformats.org/drawingml/2006/main" noGrp="1"/>
          </p:cNvSpPr>
          <p:nvPr/>
        </p:nvSpPr>
        <p:spPr>
          <a:xfrm xmlns:a="http://schemas.openxmlformats.org/drawingml/2006/main">
            <a:off x="9896475" y="2457450"/>
            <a:ext cx="1552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i="0">
                <a:solidFill>
                  <a:srgbClr val="52645D"/>
                </a:solidFill>
                <a:latin typeface="Arial"/>
                <a:ea typeface="Arial"/>
                <a:cs typeface="Arial"/>
              </a:defRPr>
            </a:pPr>
            <a:r>
              <a:rPr sz="1125" b="0" i="0">
                <a:solidFill>
                  <a:srgbClr val="52645D"/>
                </a:solidFill>
                <a:latin typeface="Arial"/>
                <a:ea typeface="Arial"/>
                <a:cs typeface="Arial"/>
              </a:rPr>
              <a:t>Prometheus + Grafana</a:t>
            </a:r>
          </a:p>
        </p:txBody>
      </p:sp>
      <p:sp>
        <p:nvSpPr>
          <p:cNvPr id="23" name="">
            <a:extLst xmlns:a="http://schemas.openxmlformats.org/drawingml/2006/main">
              <a:ext uri="{FF2B5EF4-FFF2-40B4-BE49-F238E27FC236}">
                <a16:creationId xmlns:a16="http://schemas.microsoft.com/office/drawing/2014/main" id="{B41B3C0F-D12C-450A-BD3E-32FE3FD7226A}"/>
              </a:ext>
            </a:extLst>
          </p:cNvPr>
          <p:cNvSpPr>
            <a:spLocks xmlns:a="http://schemas.openxmlformats.org/drawingml/2006/main" noGrp="1"/>
          </p:cNvSpPr>
          <p:nvPr/>
        </p:nvSpPr>
        <p:spPr>
          <a:xfrm xmlns:a="http://schemas.openxmlformats.org/drawingml/2006/main">
            <a:off x="666750" y="37147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Pipeline par défaut</a:t>
            </a:r>
          </a:p>
        </p:txBody>
      </p:sp>
      <p:sp>
        <p:nvSpPr>
          <p:cNvPr id="24" name="">
            <a:extLst xmlns:a="http://schemas.openxmlformats.org/drawingml/2006/main">
              <a:ext uri="{FF2B5EF4-FFF2-40B4-BE49-F238E27FC236}">
                <a16:creationId xmlns:a16="http://schemas.microsoft.com/office/drawing/2014/main" id="{E1A94DB7-1F60-4F4A-8FDD-D0D1A170B042}"/>
              </a:ext>
            </a:extLst>
          </p:cNvPr>
          <p:cNvSpPr>
            <a:spLocks xmlns:a="http://schemas.openxmlformats.org/drawingml/2006/main" noGrp="1"/>
          </p:cNvSpPr>
          <p:nvPr/>
        </p:nvSpPr>
        <p:spPr>
          <a:xfrm xmlns:a="http://schemas.openxmlformats.org/drawingml/2006/main">
            <a:off x="666750" y="4143375"/>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Compilation et tests des trois services.</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Couverture JaCoCo, Pytest et LCOV.</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Quality Gate SonarQube avant la construction des images.</a:t>
            </a:r>
          </a:p>
        </p:txBody>
      </p:sp>
      <p:sp>
        <p:nvSpPr>
          <p:cNvPr id="25" name="">
            <a:extLst xmlns:a="http://schemas.openxmlformats.org/drawingml/2006/main">
              <a:ext uri="{FF2B5EF4-FFF2-40B4-BE49-F238E27FC236}">
                <a16:creationId xmlns:a16="http://schemas.microsoft.com/office/drawing/2014/main" id="{3F75AF0A-4209-4C8E-A42D-312E0ACDDA3F}"/>
              </a:ext>
            </a:extLst>
          </p:cNvPr>
          <p:cNvSpPr>
            <a:spLocks xmlns:a="http://schemas.openxmlformats.org/drawingml/2006/main" noGrp="1"/>
          </p:cNvSpPr>
          <p:nvPr/>
        </p:nvSpPr>
        <p:spPr>
          <a:xfrm xmlns:a="http://schemas.openxmlformats.org/drawingml/2006/main">
            <a:off x="6572250" y="37147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i="0">
                <a:solidFill>
                  <a:srgbClr val="F45837"/>
                </a:solidFill>
                <a:latin typeface="Arial"/>
                <a:ea typeface="Arial"/>
                <a:cs typeface="Arial"/>
              </a:defRPr>
            </a:pPr>
            <a:r>
              <a:rPr sz="1350" b="1" i="0">
                <a:solidFill>
                  <a:srgbClr val="F45837"/>
                </a:solidFill>
                <a:latin typeface="Arial"/>
                <a:ea typeface="Arial"/>
                <a:cs typeface="Arial"/>
              </a:rPr>
              <a:t>Supervision locale</a:t>
            </a:r>
          </a:p>
        </p:txBody>
      </p:sp>
      <p:sp>
        <p:nvSpPr>
          <p:cNvPr id="26" name="">
            <a:extLst xmlns:a="http://schemas.openxmlformats.org/drawingml/2006/main">
              <a:ext uri="{FF2B5EF4-FFF2-40B4-BE49-F238E27FC236}">
                <a16:creationId xmlns:a16="http://schemas.microsoft.com/office/drawing/2014/main" id="{48066E97-7EC9-4015-A242-E0AA41AFB045}"/>
              </a:ext>
            </a:extLst>
          </p:cNvPr>
          <p:cNvSpPr>
            <a:spLocks xmlns:a="http://schemas.openxmlformats.org/drawingml/2006/main" noGrp="1"/>
          </p:cNvSpPr>
          <p:nvPr/>
        </p:nvSpPr>
        <p:spPr>
          <a:xfrm xmlns:a="http://schemas.openxmlformats.org/drawingml/2006/main">
            <a:off x="6572250" y="4143375"/>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Métriques Spring Actuator et FastAPI.</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Tableau de bord Grafana provisionné.</a:t>
            </a:r>
          </a:p>
          <a:p xmlns:a="http://schemas.openxmlformats.org/drawingml/2006/main">
            <a:pPr marL="228600" indent="-114300">
              <a:spcAft>
                <a:spcPts val="1100"/>
              </a:spcAft>
              <a:buChar char="•"/>
              <a:defRPr sz="1350">
                <a:solidFill>
                  <a:srgbClr val="17231F"/>
                </a:solidFill>
                <a:latin typeface="Arial"/>
                <a:ea typeface="Arial"/>
                <a:cs typeface="Arial"/>
              </a:defRPr>
            </a:pPr>
            <a:r>
              <a:rPr sz="1350">
                <a:solidFill>
                  <a:srgbClr val="17231F"/>
                </a:solidFill>
                <a:latin typeface="Arial"/>
                <a:ea typeface="Arial"/>
                <a:cs typeface="Arial"/>
              </a:rPr>
              <a:t>Alertmanager et Blackbox Exporter pour la disponibilité.</a:t>
            </a:r>
          </a:p>
        </p:txBody>
      </p:sp>
      <p:sp>
        <p:nvSpPr>
          <p:cNvPr id="27" name="">
            <a:extLst xmlns:a="http://schemas.openxmlformats.org/drawingml/2006/main">
              <a:ext uri="{FF2B5EF4-FFF2-40B4-BE49-F238E27FC236}">
                <a16:creationId xmlns:a16="http://schemas.microsoft.com/office/drawing/2014/main" id="{6AA8A203-1857-4722-A4CB-B0276C5F1EA6}"/>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28" name="">
            <a:extLst xmlns:a="http://schemas.openxmlformats.org/drawingml/2006/main">
              <a:ext uri="{FF2B5EF4-FFF2-40B4-BE49-F238E27FC236}">
                <a16:creationId xmlns:a16="http://schemas.microsoft.com/office/drawing/2014/main" id="{30CD1C3A-192C-4840-813E-E4F12309EB31}"/>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12</a:t>
            </a:r>
          </a:p>
        </p:txBody>
      </p:sp>
    </p:spTree>
    <p:extLst>
      <p:ext uri="{BB962C8B-B14F-4D97-AF65-F5344CB8AC3E}">
        <p14:creationId xmlns:p14="http://schemas.microsoft.com/office/powerpoint/2010/main" val="2003093658"/>
      </p:ext>
    </p:extLst>
  </p:cSld>
</p:sld>
</file>

<file path=ppt/slides/slide13.xml><?xml version="1.0" encoding="utf-8"?>
<p:sld xmlns:p="http://schemas.openxmlformats.org/presentationml/2006/main">
  <p:cSld>
    <p:bg>
      <p:bgPr>
        <a:solidFill xmlns:a="http://schemas.openxmlformats.org/drawingml/2006/main">
          <a:srgbClr val="FBFA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071491C-6618-41E6-97ED-D7FF4EBA2E04}"/>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164E3D"/>
                </a:solidFill>
                <a:latin typeface="Arial"/>
                <a:ea typeface="Arial"/>
                <a:cs typeface="Arial"/>
              </a:defRPr>
            </a:pPr>
            <a:r>
              <a:rPr sz="1200" b="1" i="0">
                <a:solidFill>
                  <a:srgbClr val="164E3D"/>
                </a:solidFill>
                <a:latin typeface="Arial"/>
                <a:ea typeface="Arial"/>
                <a:cs typeface="Arial"/>
              </a:rPr>
              <a:t>13</a:t>
            </a:r>
          </a:p>
        </p:txBody>
      </p:sp>
      <p:sp>
        <p:nvSpPr>
          <p:cNvPr id="2" name="">
            <a:extLst xmlns:a="http://schemas.openxmlformats.org/drawingml/2006/main">
              <a:ext uri="{FF2B5EF4-FFF2-40B4-BE49-F238E27FC236}">
                <a16:creationId xmlns:a16="http://schemas.microsoft.com/office/drawing/2014/main" id="{665DD30C-53B3-4EC5-8619-7B2D92012A18}"/>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F933BB3-49CF-4639-9036-E0233C5585F5}"/>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17231F"/>
                </a:solidFill>
                <a:latin typeface="Arial"/>
                <a:ea typeface="Arial"/>
                <a:cs typeface="Arial"/>
              </a:defRPr>
            </a:pPr>
            <a:r>
              <a:rPr sz="2550" b="1" i="0">
                <a:solidFill>
                  <a:srgbClr val="17231F"/>
                </a:solidFill>
                <a:latin typeface="Arial"/>
                <a:ea typeface="Arial"/>
                <a:cs typeface="Arial"/>
              </a:rPr>
              <a:t>Validation du système</a:t>
            </a:r>
          </a:p>
        </p:txBody>
      </p:sp>
      <p:graphicFrame>
        <p:nvGraphicFramePr>
          <p:cNvPr id="16" name="Chart"/>
          <p:cNvGraphicFramePr/>
          <p:nvPr/>
        </p:nvGraphicFramePr>
        <p:xfrm>
          <a:off xmlns:a="http://schemas.openxmlformats.org/drawingml/2006/main" x="762000" y="1285875"/>
          <a:ext xmlns:a="http://schemas.openxmlformats.org/drawingml/2006/main" cx="6858000" cy="4191000"/>
        </p:xfrm>
        <a:graphic xmlns:a="http://schemas.openxmlformats.org/drawingml/2006/main">
          <a:graphicData uri="http://schemas.openxmlformats.org/drawingml/2006/chart">
            <c:chart xmlns:r="http://schemas.openxmlformats.org/officeDocument/2006/relationships" xmlns:c="http://schemas.openxmlformats.org/drawingml/2006/chart" r:id="R18ad27c3e34d4be5"/>
          </a:graphicData>
        </a:graphic>
      </p:graphicFrame>
      <p:sp>
        <p:nvSpPr>
          <p:cNvPr id="5" name="">
            <a:extLst xmlns:a="http://schemas.openxmlformats.org/drawingml/2006/main">
              <a:ext uri="{FF2B5EF4-FFF2-40B4-BE49-F238E27FC236}">
                <a16:creationId xmlns:a16="http://schemas.microsoft.com/office/drawing/2014/main" id="{176F71F7-89FC-4E2B-9008-06B146FAE3D6}"/>
              </a:ext>
            </a:extLst>
          </p:cNvPr>
          <p:cNvSpPr>
            <a:spLocks xmlns:a="http://schemas.openxmlformats.org/drawingml/2006/main" noGrp="1"/>
          </p:cNvSpPr>
          <p:nvPr/>
        </p:nvSpPr>
        <p:spPr>
          <a:xfrm xmlns:a="http://schemas.openxmlformats.org/drawingml/2006/main">
            <a:off x="8572500" y="1428750"/>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900" b="1" i="0">
                <a:solidFill>
                  <a:srgbClr val="0B3026"/>
                </a:solidFill>
                <a:latin typeface="Arial"/>
                <a:ea typeface="Arial"/>
                <a:cs typeface="Arial"/>
              </a:defRPr>
            </a:pPr>
            <a:r>
              <a:rPr sz="3900" b="1" i="0">
                <a:solidFill>
                  <a:srgbClr val="0B3026"/>
                </a:solidFill>
                <a:latin typeface="Arial"/>
                <a:ea typeface="Arial"/>
                <a:cs typeface="Arial"/>
              </a:rPr>
              <a:t>151</a:t>
            </a:r>
          </a:p>
        </p:txBody>
      </p:sp>
      <p:sp>
        <p:nvSpPr>
          <p:cNvPr id="6" name="">
            <a:extLst xmlns:a="http://schemas.openxmlformats.org/drawingml/2006/main">
              <a:ext uri="{FF2B5EF4-FFF2-40B4-BE49-F238E27FC236}">
                <a16:creationId xmlns:a16="http://schemas.microsoft.com/office/drawing/2014/main" id="{BF37C9CA-A0C6-487C-A583-F03082752D10}"/>
              </a:ext>
            </a:extLst>
          </p:cNvPr>
          <p:cNvSpPr>
            <a:spLocks xmlns:a="http://schemas.openxmlformats.org/drawingml/2006/main" noGrp="1"/>
          </p:cNvSpPr>
          <p:nvPr/>
        </p:nvSpPr>
        <p:spPr>
          <a:xfrm xmlns:a="http://schemas.openxmlformats.org/drawingml/2006/main">
            <a:off x="8334375" y="2143125"/>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52645D"/>
                </a:solidFill>
                <a:latin typeface="Arial"/>
                <a:ea typeface="Arial"/>
                <a:cs typeface="Arial"/>
              </a:defRPr>
            </a:pPr>
            <a:r>
              <a:rPr sz="1500" b="1" i="0">
                <a:solidFill>
                  <a:srgbClr val="52645D"/>
                </a:solidFill>
                <a:latin typeface="Arial"/>
                <a:ea typeface="Arial"/>
                <a:cs typeface="Arial"/>
              </a:rPr>
              <a:t>tests automatisés réussis</a:t>
            </a:r>
          </a:p>
        </p:txBody>
      </p:sp>
      <p:sp>
        <p:nvSpPr>
          <p:cNvPr id="7" name="">
            <a:extLst xmlns:a="http://schemas.openxmlformats.org/drawingml/2006/main">
              <a:ext uri="{FF2B5EF4-FFF2-40B4-BE49-F238E27FC236}">
                <a16:creationId xmlns:a16="http://schemas.microsoft.com/office/drawing/2014/main" id="{C0AD12FA-44BF-41F0-BCAC-BB4814A897E8}"/>
              </a:ext>
            </a:extLst>
          </p:cNvPr>
          <p:cNvSpPr>
            <a:spLocks xmlns:a="http://schemas.openxmlformats.org/drawingml/2006/main" noGrp="1"/>
          </p:cNvSpPr>
          <p:nvPr/>
        </p:nvSpPr>
        <p:spPr>
          <a:xfrm xmlns:a="http://schemas.openxmlformats.org/drawingml/2006/main">
            <a:off x="8239125" y="3048000"/>
            <a:ext cx="2762250" cy="1809750"/>
          </a:xfrm>
          <a:prstGeom xmlns:a="http://schemas.openxmlformats.org/drawingml/2006/main" prst="roundRect">
            <a:avLst>
              <a:gd name="adj" fmla="val 11579"/>
            </a:avLst>
          </a:prstGeom>
          <a:solidFill xmlns:a="http://schemas.openxmlformats.org/drawingml/2006/main">
            <a:srgbClr val="DDECE4"/>
          </a:solidFill>
          <a:ln xmlns:a="http://schemas.openxmlformats.org/drawingml/2006/main" w="9525">
            <a:solidFill>
              <a:srgbClr val="C8D8D0"/>
            </a:solidFill>
            <a:prstDash val="solid"/>
          </a:ln>
        </p:spPr>
      </p:sp>
      <p:sp>
        <p:nvSpPr>
          <p:cNvPr id="8" name="">
            <a:extLst xmlns:a="http://schemas.openxmlformats.org/drawingml/2006/main">
              <a:ext uri="{FF2B5EF4-FFF2-40B4-BE49-F238E27FC236}">
                <a16:creationId xmlns:a16="http://schemas.microsoft.com/office/drawing/2014/main" id="{BAEC6679-9956-4A5A-BE47-249E91827AFA}"/>
              </a:ext>
            </a:extLst>
          </p:cNvPr>
          <p:cNvSpPr>
            <a:spLocks xmlns:a="http://schemas.openxmlformats.org/drawingml/2006/main" noGrp="1"/>
          </p:cNvSpPr>
          <p:nvPr/>
        </p:nvSpPr>
        <p:spPr>
          <a:xfrm xmlns:a="http://schemas.openxmlformats.org/drawingml/2006/main">
            <a:off x="8524875" y="3286125"/>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1" i="0">
                <a:solidFill>
                  <a:srgbClr val="0B3026"/>
                </a:solidFill>
                <a:latin typeface="Arial"/>
                <a:ea typeface="Arial"/>
                <a:cs typeface="Arial"/>
              </a:defRPr>
            </a:pPr>
            <a:r>
              <a:rPr sz="1500" b="1" i="0">
                <a:solidFill>
                  <a:srgbClr val="0B3026"/>
                </a:solidFill>
                <a:latin typeface="Arial"/>
                <a:ea typeface="Arial"/>
                <a:cs typeface="Arial"/>
              </a:rPr>
              <a:t>Vérifications complémentaires</a:t>
            </a:r>
          </a:p>
        </p:txBody>
      </p:sp>
      <p:sp>
        <p:nvSpPr>
          <p:cNvPr id="9" name="">
            <a:extLst xmlns:a="http://schemas.openxmlformats.org/drawingml/2006/main">
              <a:ext uri="{FF2B5EF4-FFF2-40B4-BE49-F238E27FC236}">
                <a16:creationId xmlns:a16="http://schemas.microsoft.com/office/drawing/2014/main" id="{F95FCAFF-7DE7-4F23-B964-1241C5A7C5B7}"/>
              </a:ext>
            </a:extLst>
          </p:cNvPr>
          <p:cNvSpPr>
            <a:spLocks xmlns:a="http://schemas.openxmlformats.org/drawingml/2006/main" noGrp="1"/>
          </p:cNvSpPr>
          <p:nvPr/>
        </p:nvSpPr>
        <p:spPr>
          <a:xfrm xmlns:a="http://schemas.openxmlformats.org/drawingml/2006/main">
            <a:off x="8667750" y="3905250"/>
            <a:ext cx="190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Build Angular</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JaCoCo XML</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Couverture Python</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LCOV</a:t>
            </a:r>
          </a:p>
          <a:p xmlns:a="http://schemas.openxmlformats.org/drawingml/2006/main">
            <a:pPr algn="ctr">
              <a:defRPr sz="1350" b="0" i="0">
                <a:solidFill>
                  <a:srgbClr val="17231F"/>
                </a:solidFill>
                <a:latin typeface="Arial"/>
                <a:ea typeface="Arial"/>
                <a:cs typeface="Arial"/>
              </a:defRPr>
            </a:pPr>
            <a:r>
              <a:rPr sz="1350" b="0" i="0">
                <a:solidFill>
                  <a:srgbClr val="17231F"/>
                </a:solidFill>
                <a:latin typeface="Arial"/>
                <a:ea typeface="Arial"/>
                <a:cs typeface="Arial"/>
              </a:rPr>
              <a:t>Compose et YAML</a:t>
            </a:r>
          </a:p>
        </p:txBody>
      </p:sp>
      <p:sp>
        <p:nvSpPr>
          <p:cNvPr id="10" name="">
            <a:extLst xmlns:a="http://schemas.openxmlformats.org/drawingml/2006/main">
              <a:ext uri="{FF2B5EF4-FFF2-40B4-BE49-F238E27FC236}">
                <a16:creationId xmlns:a16="http://schemas.microsoft.com/office/drawing/2014/main" id="{2B20AF1F-FB5D-48C9-8181-FFFD4CCF39F6}"/>
              </a:ext>
            </a:extLst>
          </p:cNvPr>
          <p:cNvSpPr>
            <a:spLocks xmlns:a="http://schemas.openxmlformats.org/drawingml/2006/main" noGrp="1"/>
          </p:cNvSpPr>
          <p:nvPr/>
        </p:nvSpPr>
        <p:spPr>
          <a:xfrm xmlns:a="http://schemas.openxmlformats.org/drawingml/2006/main">
            <a:off x="8096250" y="5381625"/>
            <a:ext cx="314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i="0">
                <a:solidFill>
                  <a:srgbClr val="52645D"/>
                </a:solidFill>
                <a:latin typeface="Arial"/>
                <a:ea typeface="Arial"/>
                <a:cs typeface="Arial"/>
              </a:defRPr>
            </a:pPr>
            <a:r>
              <a:rPr sz="1275" b="0" i="0">
                <a:solidFill>
                  <a:srgbClr val="52645D"/>
                </a:solidFill>
                <a:latin typeface="Arial"/>
                <a:ea typeface="Arial"/>
                <a:cs typeface="Arial"/>
              </a:rPr>
              <a:t>Les intégrations externes restent testées séparément : OAuth, SMTP, Cloudinary et services publics.</a:t>
            </a:r>
          </a:p>
        </p:txBody>
      </p:sp>
      <p:sp>
        <p:nvSpPr>
          <p:cNvPr id="11" name="">
            <a:extLst xmlns:a="http://schemas.openxmlformats.org/drawingml/2006/main">
              <a:ext uri="{FF2B5EF4-FFF2-40B4-BE49-F238E27FC236}">
                <a16:creationId xmlns:a16="http://schemas.microsoft.com/office/drawing/2014/main" id="{A0192D75-4554-45D9-9A81-A5C1BE1FD732}"/>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52645D"/>
                </a:solidFill>
                <a:latin typeface="Arial"/>
                <a:ea typeface="Arial"/>
                <a:cs typeface="Arial"/>
              </a:defRPr>
            </a:pPr>
            <a:r>
              <a:rPr sz="900" b="1" i="0">
                <a:solidFill>
                  <a:srgbClr val="52645D"/>
                </a:solidFill>
                <a:latin typeface="Arial"/>
                <a:ea typeface="Arial"/>
                <a:cs typeface="Arial"/>
              </a:rPr>
              <a:t>E-biessa</a:t>
            </a:r>
          </a:p>
        </p:txBody>
      </p:sp>
      <p:sp>
        <p:nvSpPr>
          <p:cNvPr id="12" name="">
            <a:extLst xmlns:a="http://schemas.openxmlformats.org/drawingml/2006/main">
              <a:ext uri="{FF2B5EF4-FFF2-40B4-BE49-F238E27FC236}">
                <a16:creationId xmlns:a16="http://schemas.microsoft.com/office/drawing/2014/main" id="{D1EC40B4-F9A3-4D80-9D16-E2CC95CB3C98}"/>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52645D"/>
                </a:solidFill>
                <a:latin typeface="Arial"/>
                <a:ea typeface="Arial"/>
                <a:cs typeface="Arial"/>
              </a:defRPr>
            </a:pPr>
            <a:r>
              <a:rPr sz="900" b="0" i="0">
                <a:solidFill>
                  <a:srgbClr val="52645D"/>
                </a:solidFill>
                <a:latin typeface="Arial"/>
                <a:ea typeface="Arial"/>
                <a:cs typeface="Arial"/>
              </a:rPr>
              <a:t>13</a:t>
            </a:r>
          </a:p>
        </p:txBody>
      </p:sp>
    </p:spTree>
    <p:extLst>
      <p:ext uri="{BB962C8B-B14F-4D97-AF65-F5344CB8AC3E}">
        <p14:creationId xmlns:p14="http://schemas.microsoft.com/office/powerpoint/2010/main" val="1253530960"/>
      </p:ext>
    </p:extLst>
  </p:cSld>
</p:sld>
</file>

<file path=ppt/slides/slide14.xml><?xml version="1.0" encoding="utf-8"?>
<p:sld xmlns:p="http://schemas.openxmlformats.org/presentationml/2006/main">
  <p:cSld>
    <p:bg>
      <p:bgPr>
        <a:solidFill xmlns:a="http://schemas.openxmlformats.org/drawingml/2006/main">
          <a:srgbClr val="0B302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DCFAA8-E0C8-4A2C-A338-198270A18068}"/>
              </a:ext>
            </a:extLst>
          </p:cNvPr>
          <p:cNvSpPr>
            <a:spLocks xmlns:a="http://schemas.openxmlformats.org/drawingml/2006/main" noGrp="1"/>
          </p:cNvSpPr>
          <p:nvPr/>
        </p:nvSpPr>
        <p:spPr>
          <a:xfrm xmlns:a="http://schemas.openxmlformats.org/drawingml/2006/main">
            <a:off x="666750" y="3714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i="0">
                <a:solidFill>
                  <a:srgbClr val="BFD8CB"/>
                </a:solidFill>
                <a:latin typeface="Arial"/>
                <a:ea typeface="Arial"/>
                <a:cs typeface="Arial"/>
              </a:defRPr>
            </a:pPr>
            <a:r>
              <a:rPr sz="1200" b="1" i="0">
                <a:solidFill>
                  <a:srgbClr val="BFD8CB"/>
                </a:solidFill>
                <a:latin typeface="Arial"/>
                <a:ea typeface="Arial"/>
                <a:cs typeface="Arial"/>
              </a:rPr>
              <a:t>14</a:t>
            </a:r>
          </a:p>
        </p:txBody>
      </p:sp>
      <p:sp>
        <p:nvSpPr>
          <p:cNvPr id="2" name="">
            <a:extLst xmlns:a="http://schemas.openxmlformats.org/drawingml/2006/main">
              <a:ext uri="{FF2B5EF4-FFF2-40B4-BE49-F238E27FC236}">
                <a16:creationId xmlns:a16="http://schemas.microsoft.com/office/drawing/2014/main" id="{4354757C-2A88-4A16-B7B2-95EC68B75E14}"/>
              </a:ext>
            </a:extLst>
          </p:cNvPr>
          <p:cNvSpPr>
            <a:spLocks xmlns:a="http://schemas.openxmlformats.org/drawingml/2006/main" noGrp="1"/>
          </p:cNvSpPr>
          <p:nvPr/>
        </p:nvSpPr>
        <p:spPr>
          <a:xfrm xmlns:a="http://schemas.openxmlformats.org/drawingml/2006/main">
            <a:off x="666750" y="714375"/>
            <a:ext cx="400050" cy="47625"/>
          </a:xfrm>
          <a:prstGeom xmlns:a="http://schemas.openxmlformats.org/drawingml/2006/main" prst="rect">
            <a:avLst/>
          </a:prstGeom>
          <a:solidFill xmlns:a="http://schemas.openxmlformats.org/drawingml/2006/main">
            <a:srgbClr val="F4583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DBA6D58-F822-438D-80F4-E441F2DE31CD}"/>
              </a:ext>
            </a:extLst>
          </p:cNvPr>
          <p:cNvSpPr>
            <a:spLocks xmlns:a="http://schemas.openxmlformats.org/drawingml/2006/main" noGrp="1"/>
          </p:cNvSpPr>
          <p:nvPr/>
        </p:nvSpPr>
        <p:spPr>
          <a:xfrm xmlns:a="http://schemas.openxmlformats.org/drawingml/2006/main">
            <a:off x="1238250" y="36195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Bilan du projet</a:t>
            </a:r>
          </a:p>
        </p:txBody>
      </p:sp>
      <p:sp>
        <p:nvSpPr>
          <p:cNvPr id="4" name="">
            <a:extLst xmlns:a="http://schemas.openxmlformats.org/drawingml/2006/main">
              <a:ext uri="{FF2B5EF4-FFF2-40B4-BE49-F238E27FC236}">
                <a16:creationId xmlns:a16="http://schemas.microsoft.com/office/drawing/2014/main" id="{022772B0-9BEF-4284-B02A-3662E04509BA}"/>
              </a:ext>
            </a:extLst>
          </p:cNvPr>
          <p:cNvSpPr>
            <a:spLocks xmlns:a="http://schemas.openxmlformats.org/drawingml/2006/main" noGrp="1"/>
          </p:cNvSpPr>
          <p:nvPr/>
        </p:nvSpPr>
        <p:spPr>
          <a:xfrm xmlns:a="http://schemas.openxmlformats.org/drawingml/2006/main">
            <a:off x="762000" y="13811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i="0">
                <a:solidFill>
                  <a:srgbClr val="FFFFFF"/>
                </a:solidFill>
                <a:latin typeface="Arial"/>
                <a:ea typeface="Arial"/>
                <a:cs typeface="Arial"/>
              </a:defRPr>
            </a:pPr>
            <a:r>
              <a:rPr sz="2550" b="1" i="0">
                <a:solidFill>
                  <a:srgbClr val="FFFFFF"/>
                </a:solidFill>
                <a:latin typeface="Arial"/>
                <a:ea typeface="Arial"/>
                <a:cs typeface="Arial"/>
              </a:rPr>
              <a:t>Une marketplace complète</a:t>
            </a:r>
          </a:p>
        </p:txBody>
      </p:sp>
      <p:sp>
        <p:nvSpPr>
          <p:cNvPr id="5" name="">
            <a:extLst xmlns:a="http://schemas.openxmlformats.org/drawingml/2006/main">
              <a:ext uri="{FF2B5EF4-FFF2-40B4-BE49-F238E27FC236}">
                <a16:creationId xmlns:a16="http://schemas.microsoft.com/office/drawing/2014/main" id="{97A4EBA2-AC3B-4C59-84D7-A024A44AD3E4}"/>
              </a:ext>
            </a:extLst>
          </p:cNvPr>
          <p:cNvSpPr>
            <a:spLocks xmlns:a="http://schemas.openxmlformats.org/drawingml/2006/main" noGrp="1"/>
          </p:cNvSpPr>
          <p:nvPr/>
        </p:nvSpPr>
        <p:spPr>
          <a:xfrm xmlns:a="http://schemas.openxmlformats.org/drawingml/2006/main">
            <a:off x="762000" y="2238375"/>
            <a:ext cx="4953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Parcours acheteur, vendeur et administrateur opérationnels.</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Catalogue riche, messagerie instantanée, réputation et modération.</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Recherche IA locale avec compatibilité déterministe.</a:t>
            </a:r>
          </a:p>
          <a:p xmlns:a="http://schemas.openxmlformats.org/drawingml/2006/main">
            <a:pPr marL="228600" indent="-114300">
              <a:spcAft>
                <a:spcPts val="1100"/>
              </a:spcAft>
              <a:buChar char="•"/>
              <a:defRPr sz="1575">
                <a:solidFill>
                  <a:srgbClr val="FFFFFF"/>
                </a:solidFill>
                <a:latin typeface="Arial"/>
                <a:ea typeface="Arial"/>
                <a:cs typeface="Arial"/>
              </a:defRPr>
            </a:pPr>
            <a:r>
              <a:rPr sz="1575">
                <a:solidFill>
                  <a:srgbClr val="FFFFFF"/>
                </a:solidFill>
                <a:latin typeface="Arial"/>
                <a:ea typeface="Arial"/>
                <a:cs typeface="Arial"/>
              </a:rPr>
              <a:t>Pipeline CI/CD et supervision reproductibles en local.</a:t>
            </a:r>
          </a:p>
        </p:txBody>
      </p:sp>
      <p:sp>
        <p:nvSpPr>
          <p:cNvPr id="6" name="">
            <a:extLst xmlns:a="http://schemas.openxmlformats.org/drawingml/2006/main">
              <a:ext uri="{FF2B5EF4-FFF2-40B4-BE49-F238E27FC236}">
                <a16:creationId xmlns:a16="http://schemas.microsoft.com/office/drawing/2014/main" id="{63034B00-AB74-453D-80A0-D76673D1F589}"/>
              </a:ext>
            </a:extLst>
          </p:cNvPr>
          <p:cNvSpPr>
            <a:spLocks xmlns:a="http://schemas.openxmlformats.org/drawingml/2006/main" noGrp="1"/>
          </p:cNvSpPr>
          <p:nvPr/>
        </p:nvSpPr>
        <p:spPr>
          <a:xfrm xmlns:a="http://schemas.openxmlformats.org/drawingml/2006/main">
            <a:off x="6858000" y="1428750"/>
            <a:ext cx="4333875" cy="3381375"/>
          </a:xfrm>
          <a:prstGeom xmlns:a="http://schemas.openxmlformats.org/drawingml/2006/main" prst="roundRect">
            <a:avLst>
              <a:gd name="adj" fmla="val 6761"/>
            </a:avLst>
          </a:prstGeom>
          <a:solidFill xmlns:a="http://schemas.openxmlformats.org/drawingml/2006/main">
            <a:srgbClr val="FBFAF5"/>
          </a:solidFill>
          <a:ln xmlns:a="http://schemas.openxmlformats.org/drawingml/2006/main" w="9525">
            <a:solidFill>
              <a:srgbClr val="FBFAF5"/>
            </a:solidFill>
            <a:prstDash val="solid"/>
          </a:ln>
        </p:spPr>
      </p:sp>
      <p:sp>
        <p:nvSpPr>
          <p:cNvPr id="7" name="">
            <a:extLst xmlns:a="http://schemas.openxmlformats.org/drawingml/2006/main">
              <a:ext uri="{FF2B5EF4-FFF2-40B4-BE49-F238E27FC236}">
                <a16:creationId xmlns:a16="http://schemas.microsoft.com/office/drawing/2014/main" id="{FB8ACF5B-F510-4274-A58D-F76F30D6E06B}"/>
              </a:ext>
            </a:extLst>
          </p:cNvPr>
          <p:cNvSpPr>
            <a:spLocks xmlns:a="http://schemas.openxmlformats.org/drawingml/2006/main" noGrp="1"/>
          </p:cNvSpPr>
          <p:nvPr/>
        </p:nvSpPr>
        <p:spPr>
          <a:xfrm xmlns:a="http://schemas.openxmlformats.org/drawingml/2006/main">
            <a:off x="7239000" y="1762125"/>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i="0">
                <a:solidFill>
                  <a:srgbClr val="0B3026"/>
                </a:solidFill>
                <a:latin typeface="Arial"/>
                <a:ea typeface="Arial"/>
                <a:cs typeface="Arial"/>
              </a:defRPr>
            </a:pPr>
            <a:r>
              <a:rPr sz="2100" b="1" i="0">
                <a:solidFill>
                  <a:srgbClr val="0B3026"/>
                </a:solidFill>
                <a:latin typeface="Arial"/>
                <a:ea typeface="Arial"/>
                <a:cs typeface="Arial"/>
              </a:rPr>
              <a:t>Perspectives</a:t>
            </a:r>
          </a:p>
        </p:txBody>
      </p:sp>
      <p:sp>
        <p:nvSpPr>
          <p:cNvPr id="8" name="">
            <a:extLst xmlns:a="http://schemas.openxmlformats.org/drawingml/2006/main">
              <a:ext uri="{FF2B5EF4-FFF2-40B4-BE49-F238E27FC236}">
                <a16:creationId xmlns:a16="http://schemas.microsoft.com/office/drawing/2014/main" id="{E89F2917-5845-4D62-B3B2-F422F20B16A8}"/>
              </a:ext>
            </a:extLst>
          </p:cNvPr>
          <p:cNvSpPr>
            <a:spLocks xmlns:a="http://schemas.openxmlformats.org/drawingml/2006/main" noGrp="1"/>
          </p:cNvSpPr>
          <p:nvPr/>
        </p:nvSpPr>
        <p:spPr>
          <a:xfrm xmlns:a="http://schemas.openxmlformats.org/drawingml/2006/main">
            <a:off x="7191375" y="2428875"/>
            <a:ext cx="357187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Élargir et valider le catalogue automobile tunisien.</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Évaluer les recommandations avec davantage d’activité réelle.</a:t>
            </a:r>
          </a:p>
          <a:p xmlns:a="http://schemas.openxmlformats.org/drawingml/2006/main">
            <a:pPr marL="228600" indent="-114300">
              <a:spcAft>
                <a:spcPts val="1100"/>
              </a:spcAft>
              <a:buChar char="•"/>
              <a:defRPr sz="1425">
                <a:solidFill>
                  <a:srgbClr val="17231F"/>
                </a:solidFill>
                <a:latin typeface="Arial"/>
                <a:ea typeface="Arial"/>
                <a:cs typeface="Arial"/>
              </a:defRPr>
            </a:pPr>
            <a:r>
              <a:rPr sz="1425">
                <a:solidFill>
                  <a:srgbClr val="17231F"/>
                </a:solidFill>
                <a:latin typeface="Arial"/>
                <a:ea typeface="Arial"/>
                <a:cs typeface="Arial"/>
              </a:rPr>
              <a:t>Préparer le paiement et le déploiement uniquement après validation métier.</a:t>
            </a:r>
          </a:p>
        </p:txBody>
      </p:sp>
      <p:sp>
        <p:nvSpPr>
          <p:cNvPr id="9" name="">
            <a:extLst xmlns:a="http://schemas.openxmlformats.org/drawingml/2006/main">
              <a:ext uri="{FF2B5EF4-FFF2-40B4-BE49-F238E27FC236}">
                <a16:creationId xmlns:a16="http://schemas.microsoft.com/office/drawing/2014/main" id="{BD2C6C2E-3379-46D2-B71C-2FA38BED146E}"/>
              </a:ext>
            </a:extLst>
          </p:cNvPr>
          <p:cNvSpPr>
            <a:spLocks xmlns:a="http://schemas.openxmlformats.org/drawingml/2006/main" noGrp="1"/>
          </p:cNvSpPr>
          <p:nvPr/>
        </p:nvSpPr>
        <p:spPr>
          <a:xfrm xmlns:a="http://schemas.openxmlformats.org/drawingml/2006/main">
            <a:off x="762000" y="5715000"/>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i="0">
                <a:solidFill>
                  <a:srgbClr val="F45837"/>
                </a:solidFill>
                <a:latin typeface="Arial"/>
                <a:ea typeface="Arial"/>
                <a:cs typeface="Arial"/>
              </a:defRPr>
            </a:pPr>
            <a:r>
              <a:rPr sz="2700" b="1" i="0">
                <a:solidFill>
                  <a:srgbClr val="F45837"/>
                </a:solidFill>
                <a:latin typeface="Arial"/>
                <a:ea typeface="Arial"/>
                <a:cs typeface="Arial"/>
              </a:rPr>
              <a:t>Merci</a:t>
            </a:r>
          </a:p>
        </p:txBody>
      </p:sp>
      <p:sp>
        <p:nvSpPr>
          <p:cNvPr id="10" name="">
            <a:extLst xmlns:a="http://schemas.openxmlformats.org/drawingml/2006/main">
              <a:ext uri="{FF2B5EF4-FFF2-40B4-BE49-F238E27FC236}">
                <a16:creationId xmlns:a16="http://schemas.microsoft.com/office/drawing/2014/main" id="{0EDA51A7-AC3B-40AC-8143-7E130D38DFDA}"/>
              </a:ext>
            </a:extLst>
          </p:cNvPr>
          <p:cNvSpPr>
            <a:spLocks xmlns:a="http://schemas.openxmlformats.org/drawingml/2006/main" noGrp="1"/>
          </p:cNvSpPr>
          <p:nvPr/>
        </p:nvSpPr>
        <p:spPr>
          <a:xfrm xmlns:a="http://schemas.openxmlformats.org/drawingml/2006/main">
            <a:off x="7048500" y="5334000"/>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400" b="1" i="0">
                <a:solidFill>
                  <a:srgbClr val="BFD8CB"/>
                </a:solidFill>
                <a:latin typeface="Arial"/>
                <a:ea typeface="Arial"/>
                <a:cs typeface="Arial"/>
              </a:defRPr>
            </a:pPr>
            <a:r>
              <a:rPr sz="2400" b="1" i="0">
                <a:solidFill>
                  <a:srgbClr val="BFD8CB"/>
                </a:solidFill>
                <a:latin typeface="Arial"/>
                <a:ea typeface="Arial"/>
                <a:cs typeface="Arial"/>
              </a:rPr>
              <a:t>Questions ?</a:t>
            </a:r>
          </a:p>
        </p:txBody>
      </p:sp>
      <p:sp>
        <p:nvSpPr>
          <p:cNvPr id="11" name="">
            <a:extLst xmlns:a="http://schemas.openxmlformats.org/drawingml/2006/main">
              <a:ext uri="{FF2B5EF4-FFF2-40B4-BE49-F238E27FC236}">
                <a16:creationId xmlns:a16="http://schemas.microsoft.com/office/drawing/2014/main" id="{66977A69-7D22-4657-BB7D-F7C986B6FD34}"/>
              </a:ext>
            </a:extLst>
          </p:cNvPr>
          <p:cNvSpPr>
            <a:spLocks xmlns:a="http://schemas.openxmlformats.org/drawingml/2006/main" noGrp="1"/>
          </p:cNvSpPr>
          <p:nvPr/>
        </p:nvSpPr>
        <p:spPr>
          <a:xfrm xmlns:a="http://schemas.openxmlformats.org/drawingml/2006/main">
            <a:off x="666750" y="6477000"/>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1" i="0">
                <a:solidFill>
                  <a:srgbClr val="BFD8CB"/>
                </a:solidFill>
                <a:latin typeface="Arial"/>
                <a:ea typeface="Arial"/>
                <a:cs typeface="Arial"/>
              </a:defRPr>
            </a:pPr>
            <a:r>
              <a:rPr sz="900" b="1" i="0">
                <a:solidFill>
                  <a:srgbClr val="BFD8CB"/>
                </a:solidFill>
                <a:latin typeface="Arial"/>
                <a:ea typeface="Arial"/>
                <a:cs typeface="Arial"/>
              </a:rPr>
              <a:t>E-biessa</a:t>
            </a:r>
          </a:p>
        </p:txBody>
      </p:sp>
      <p:sp>
        <p:nvSpPr>
          <p:cNvPr id="12" name="">
            <a:extLst xmlns:a="http://schemas.openxmlformats.org/drawingml/2006/main">
              <a:ext uri="{FF2B5EF4-FFF2-40B4-BE49-F238E27FC236}">
                <a16:creationId xmlns:a16="http://schemas.microsoft.com/office/drawing/2014/main" id="{000A0E00-0B49-4BF9-AAA7-B7F6C895CE1E}"/>
              </a:ext>
            </a:extLst>
          </p:cNvPr>
          <p:cNvSpPr>
            <a:spLocks xmlns:a="http://schemas.openxmlformats.org/drawingml/2006/main" noGrp="1"/>
          </p:cNvSpPr>
          <p:nvPr/>
        </p:nvSpPr>
        <p:spPr>
          <a:xfrm xmlns:a="http://schemas.openxmlformats.org/drawingml/2006/main">
            <a:off x="11096625" y="6477000"/>
            <a:ext cx="428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900" b="0" i="0">
                <a:solidFill>
                  <a:srgbClr val="BFD8CB"/>
                </a:solidFill>
                <a:latin typeface="Arial"/>
                <a:ea typeface="Arial"/>
                <a:cs typeface="Arial"/>
              </a:defRPr>
            </a:pPr>
            <a:r>
              <a:rPr sz="900" b="0" i="0">
                <a:solidFill>
                  <a:srgbClr val="BFD8CB"/>
                </a:solidFill>
                <a:latin typeface="Arial"/>
                <a:ea typeface="Arial"/>
                <a:cs typeface="Arial"/>
              </a:rPr>
              <a:t>14</a:t>
            </a:r>
          </a:p>
        </p:txBody>
      </p:sp>
    </p:spTree>
    <p:extLst>
      <p:ext uri="{BB962C8B-B14F-4D97-AF65-F5344CB8AC3E}">
        <p14:creationId xmlns:p14="http://schemas.microsoft.com/office/powerpoint/2010/main" val="1241600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2026-09-24T11:55:43.5250000Z</dcterms:created>
  <dcterms:modified xsi:type="dcterms:W3CDTF">2026-09-24T11:55:43.5250000Z</dcterms:modified>
</coreProperties>
</file>